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70" r:id="rId2"/>
    <p:sldId id="257" r:id="rId3"/>
    <p:sldId id="258" r:id="rId4"/>
    <p:sldId id="259" r:id="rId5"/>
    <p:sldId id="266" r:id="rId6"/>
    <p:sldId id="268" r:id="rId7"/>
    <p:sldId id="274" r:id="rId8"/>
    <p:sldId id="275" r:id="rId9"/>
    <p:sldId id="267" r:id="rId10"/>
    <p:sldId id="272" r:id="rId11"/>
    <p:sldId id="269" r:id="rId12"/>
    <p:sldId id="260" r:id="rId13"/>
    <p:sldId id="262" r:id="rId14"/>
    <p:sldId id="263" r:id="rId15"/>
    <p:sldId id="264" r:id="rId16"/>
    <p:sldId id="271" r:id="rId17"/>
    <p:sldId id="265"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21C7C9-6BEB-9192-8DB9-43E719996DBB}" name="yamamoto.h" initials="疾山" userId="S::yamamoto.h.618@ms.saitama-u.ac.jp::9bc36684-b81a-48c1-998b-6c9bcac10f4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8F317F-AECA-4792-B0A7-51DA02100F4C}" v="3" dt="2026-01-25T16:08:51.314"/>
    <p1510:client id="{E7267833-8BB8-4DD0-BD30-A5E78C8170C2}" v="154" dt="2026-01-26T15:40:54.81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506" autoAdjust="0"/>
  </p:normalViewPr>
  <p:slideViewPr>
    <p:cSldViewPr snapToGrid="0" snapToObjects="1">
      <p:cViewPr varScale="1">
        <p:scale>
          <a:sx n="50" d="100"/>
          <a:sy n="50" d="100"/>
        </p:scale>
        <p:origin x="166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tapult typeR" userId="1eb73596b2575321" providerId="LiveId" clId="{20C18575-42FB-474B-92BD-2AAF7C4DF09C}"/>
    <pc:docChg chg="undo redo custSel addSld delSld modSld">
      <pc:chgData name="catapult typeR" userId="1eb73596b2575321" providerId="LiveId" clId="{20C18575-42FB-474B-92BD-2AAF7C4DF09C}" dt="2026-01-25T16:16:57.572" v="3095" actId="20577"/>
      <pc:docMkLst>
        <pc:docMk/>
      </pc:docMkLst>
      <pc:sldChg chg="modSp mod">
        <pc:chgData name="catapult typeR" userId="1eb73596b2575321" providerId="LiveId" clId="{20C18575-42FB-474B-92BD-2AAF7C4DF09C}" dt="2026-01-01T00:54:11.147" v="2445" actId="20577"/>
        <pc:sldMkLst>
          <pc:docMk/>
          <pc:sldMk cId="0" sldId="257"/>
        </pc:sldMkLst>
        <pc:spChg chg="mod">
          <ac:chgData name="catapult typeR" userId="1eb73596b2575321" providerId="LiveId" clId="{20C18575-42FB-474B-92BD-2AAF7C4DF09C}" dt="2026-01-01T00:54:11.147" v="2445" actId="20577"/>
          <ac:spMkLst>
            <pc:docMk/>
            <pc:sldMk cId="0" sldId="257"/>
            <ac:spMk id="3" creationId="{00000000-0000-0000-0000-000000000000}"/>
          </ac:spMkLst>
        </pc:spChg>
      </pc:sldChg>
      <pc:sldChg chg="modNotesTx">
        <pc:chgData name="catapult typeR" userId="1eb73596b2575321" providerId="LiveId" clId="{20C18575-42FB-474B-92BD-2AAF7C4DF09C}" dt="2026-01-25T16:16:57.572" v="3095" actId="20577"/>
        <pc:sldMkLst>
          <pc:docMk/>
          <pc:sldMk cId="0" sldId="263"/>
        </pc:sldMkLst>
      </pc:sldChg>
      <pc:sldChg chg="modNotesTx">
        <pc:chgData name="catapult typeR" userId="1eb73596b2575321" providerId="LiveId" clId="{20C18575-42FB-474B-92BD-2AAF7C4DF09C}" dt="2025-12-30T13:33:39.503" v="2241" actId="20577"/>
        <pc:sldMkLst>
          <pc:docMk/>
          <pc:sldMk cId="0" sldId="264"/>
        </pc:sldMkLst>
      </pc:sldChg>
      <pc:sldChg chg="addSp delSp modSp mod modNotesTx">
        <pc:chgData name="catapult typeR" userId="1eb73596b2575321" providerId="LiveId" clId="{20C18575-42FB-474B-92BD-2AAF7C4DF09C}" dt="2026-01-25T16:09:02.903" v="2651" actId="478"/>
        <pc:sldMkLst>
          <pc:docMk/>
          <pc:sldMk cId="1140522277" sldId="266"/>
        </pc:sldMkLst>
        <pc:spChg chg="mod">
          <ac:chgData name="catapult typeR" userId="1eb73596b2575321" providerId="LiveId" clId="{20C18575-42FB-474B-92BD-2AAF7C4DF09C}" dt="2025-12-30T13:18:14.811" v="1498" actId="20577"/>
          <ac:spMkLst>
            <pc:docMk/>
            <pc:sldMk cId="1140522277" sldId="266"/>
            <ac:spMk id="21" creationId="{D257E98E-0775-C2B7-F1BF-52CAF82EC11A}"/>
          </ac:spMkLst>
        </pc:spChg>
        <pc:spChg chg="mod">
          <ac:chgData name="catapult typeR" userId="1eb73596b2575321" providerId="LiveId" clId="{20C18575-42FB-474B-92BD-2AAF7C4DF09C}" dt="2025-12-30T13:18:11.048" v="1496" actId="20577"/>
          <ac:spMkLst>
            <pc:docMk/>
            <pc:sldMk cId="1140522277" sldId="266"/>
            <ac:spMk id="22" creationId="{2D46B64A-5D97-F3E4-12E2-EEE1AA763450}"/>
          </ac:spMkLst>
        </pc:spChg>
        <pc:picChg chg="add del mod">
          <ac:chgData name="catapult typeR" userId="1eb73596b2575321" providerId="LiveId" clId="{20C18575-42FB-474B-92BD-2AAF7C4DF09C}" dt="2026-01-25T16:09:02.903" v="2651" actId="478"/>
          <ac:picMkLst>
            <pc:docMk/>
            <pc:sldMk cId="1140522277" sldId="266"/>
            <ac:picMk id="6" creationId="{2F27DF3B-E5CF-F3E7-4C74-FFEF3311D08E}"/>
          </ac:picMkLst>
        </pc:picChg>
      </pc:sldChg>
      <pc:sldChg chg="modSp mod modNotesTx">
        <pc:chgData name="catapult typeR" userId="1eb73596b2575321" providerId="LiveId" clId="{20C18575-42FB-474B-92BD-2AAF7C4DF09C}" dt="2025-12-30T11:16:01.604" v="960" actId="27918"/>
        <pc:sldMkLst>
          <pc:docMk/>
          <pc:sldMk cId="151350107" sldId="267"/>
        </pc:sldMkLst>
        <pc:spChg chg="mod">
          <ac:chgData name="catapult typeR" userId="1eb73596b2575321" providerId="LiveId" clId="{20C18575-42FB-474B-92BD-2AAF7C4DF09C}" dt="2025-12-30T05:00:04.277" v="915" actId="20577"/>
          <ac:spMkLst>
            <pc:docMk/>
            <pc:sldMk cId="151350107" sldId="267"/>
            <ac:spMk id="7" creationId="{EB20B99C-BA23-5B07-5038-52C79946D67B}"/>
          </ac:spMkLst>
        </pc:spChg>
      </pc:sldChg>
      <pc:sldChg chg="modSp mod">
        <pc:chgData name="catapult typeR" userId="1eb73596b2575321" providerId="LiveId" clId="{20C18575-42FB-474B-92BD-2AAF7C4DF09C}" dt="2025-12-30T13:18:27.454" v="1502" actId="20577"/>
        <pc:sldMkLst>
          <pc:docMk/>
          <pc:sldMk cId="152551231" sldId="268"/>
        </pc:sldMkLst>
        <pc:spChg chg="mod">
          <ac:chgData name="catapult typeR" userId="1eb73596b2575321" providerId="LiveId" clId="{20C18575-42FB-474B-92BD-2AAF7C4DF09C}" dt="2025-12-30T04:52:14.138" v="801" actId="122"/>
          <ac:spMkLst>
            <pc:docMk/>
            <pc:sldMk cId="152551231" sldId="268"/>
            <ac:spMk id="3" creationId="{4DD75639-22BA-240D-82CF-D9F344401520}"/>
          </ac:spMkLst>
        </pc:spChg>
        <pc:spChg chg="mod">
          <ac:chgData name="catapult typeR" userId="1eb73596b2575321" providerId="LiveId" clId="{20C18575-42FB-474B-92BD-2AAF7C4DF09C}" dt="2025-12-30T04:52:41.526" v="810" actId="1076"/>
          <ac:spMkLst>
            <pc:docMk/>
            <pc:sldMk cId="152551231" sldId="268"/>
            <ac:spMk id="7" creationId="{D9508AA8-AF36-0381-4E6D-9C0D61AD6346}"/>
          </ac:spMkLst>
        </pc:spChg>
        <pc:spChg chg="mod">
          <ac:chgData name="catapult typeR" userId="1eb73596b2575321" providerId="LiveId" clId="{20C18575-42FB-474B-92BD-2AAF7C4DF09C}" dt="2025-12-30T04:52:20.507" v="803" actId="1076"/>
          <ac:spMkLst>
            <pc:docMk/>
            <pc:sldMk cId="152551231" sldId="268"/>
            <ac:spMk id="11" creationId="{EE0A4ABD-A15C-BC4F-0FB6-2153F7A6076C}"/>
          </ac:spMkLst>
        </pc:spChg>
        <pc:spChg chg="mod">
          <ac:chgData name="catapult typeR" userId="1eb73596b2575321" providerId="LiveId" clId="{20C18575-42FB-474B-92BD-2AAF7C4DF09C}" dt="2025-12-30T04:52:30.167" v="806" actId="1076"/>
          <ac:spMkLst>
            <pc:docMk/>
            <pc:sldMk cId="152551231" sldId="268"/>
            <ac:spMk id="13" creationId="{8ADD2529-943A-2172-C86D-6FCFBCA5BBA2}"/>
          </ac:spMkLst>
        </pc:spChg>
        <pc:spChg chg="mod">
          <ac:chgData name="catapult typeR" userId="1eb73596b2575321" providerId="LiveId" clId="{20C18575-42FB-474B-92BD-2AAF7C4DF09C}" dt="2025-12-30T13:18:27.454" v="1502" actId="20577"/>
          <ac:spMkLst>
            <pc:docMk/>
            <pc:sldMk cId="152551231" sldId="268"/>
            <ac:spMk id="21" creationId="{D257E98E-0775-C2B7-F1BF-52CAF82EC11A}"/>
          </ac:spMkLst>
        </pc:spChg>
        <pc:spChg chg="mod">
          <ac:chgData name="catapult typeR" userId="1eb73596b2575321" providerId="LiveId" clId="{20C18575-42FB-474B-92BD-2AAF7C4DF09C}" dt="2025-12-30T13:18:20.883" v="1500" actId="20577"/>
          <ac:spMkLst>
            <pc:docMk/>
            <pc:sldMk cId="152551231" sldId="268"/>
            <ac:spMk id="22" creationId="{2D46B64A-5D97-F3E4-12E2-EEE1AA763450}"/>
          </ac:spMkLst>
        </pc:spChg>
      </pc:sldChg>
      <pc:sldChg chg="modNotesTx">
        <pc:chgData name="catapult typeR" userId="1eb73596b2575321" providerId="LiveId" clId="{20C18575-42FB-474B-92BD-2AAF7C4DF09C}" dt="2026-01-01T00:57:19.752" v="2577" actId="20577"/>
        <pc:sldMkLst>
          <pc:docMk/>
          <pc:sldMk cId="847920982" sldId="269"/>
        </pc:sldMkLst>
      </pc:sldChg>
      <pc:sldChg chg="addSp delSp modSp new mod">
        <pc:chgData name="catapult typeR" userId="1eb73596b2575321" providerId="LiveId" clId="{20C18575-42FB-474B-92BD-2AAF7C4DF09C}" dt="2026-01-23T08:06:26.465" v="2645" actId="20577"/>
        <pc:sldMkLst>
          <pc:docMk/>
          <pc:sldMk cId="3389353998" sldId="271"/>
        </pc:sldMkLst>
        <pc:spChg chg="mod">
          <ac:chgData name="catapult typeR" userId="1eb73596b2575321" providerId="LiveId" clId="{20C18575-42FB-474B-92BD-2AAF7C4DF09C}" dt="2025-12-30T04:31:46.440" v="32" actId="20577"/>
          <ac:spMkLst>
            <pc:docMk/>
            <pc:sldMk cId="3389353998" sldId="271"/>
            <ac:spMk id="2" creationId="{F0DFF94D-1C7C-D97C-01CC-7438E973CB0C}"/>
          </ac:spMkLst>
        </pc:spChg>
        <pc:graphicFrameChg chg="add mod modGraphic">
          <ac:chgData name="catapult typeR" userId="1eb73596b2575321" providerId="LiveId" clId="{20C18575-42FB-474B-92BD-2AAF7C4DF09C}" dt="2026-01-23T08:06:26.465" v="2645" actId="20577"/>
          <ac:graphicFrameMkLst>
            <pc:docMk/>
            <pc:sldMk cId="3389353998" sldId="271"/>
            <ac:graphicFrameMk id="4" creationId="{310DCC35-8DC0-9349-AE1A-8391ECCCE7E7}"/>
          </ac:graphicFrameMkLst>
        </pc:graphicFrameChg>
      </pc:sldChg>
      <pc:sldChg chg="addSp modSp add del mod modNotesTx">
        <pc:chgData name="catapult typeR" userId="1eb73596b2575321" providerId="LiveId" clId="{20C18575-42FB-474B-92BD-2AAF7C4DF09C}" dt="2025-12-30T13:26:47.482" v="1896" actId="20577"/>
        <pc:sldMkLst>
          <pc:docMk/>
          <pc:sldMk cId="1695239960" sldId="272"/>
        </pc:sldMkLst>
        <pc:spChg chg="add mod">
          <ac:chgData name="catapult typeR" userId="1eb73596b2575321" providerId="LiveId" clId="{20C18575-42FB-474B-92BD-2AAF7C4DF09C}" dt="2025-12-30T13:25:08.659" v="1769" actId="1076"/>
          <ac:spMkLst>
            <pc:docMk/>
            <pc:sldMk cId="1695239960" sldId="272"/>
            <ac:spMk id="3" creationId="{4E46BB36-BDE6-C76A-A62A-E3E460EC8FDF}"/>
          </ac:spMkLst>
        </pc:spChg>
        <pc:spChg chg="mod">
          <ac:chgData name="catapult typeR" userId="1eb73596b2575321" providerId="LiveId" clId="{20C18575-42FB-474B-92BD-2AAF7C4DF09C}" dt="2025-12-30T13:23:14.445" v="1661" actId="20577"/>
          <ac:spMkLst>
            <pc:docMk/>
            <pc:sldMk cId="1695239960" sldId="272"/>
            <ac:spMk id="7" creationId="{EB20B99C-BA23-5B07-5038-52C79946D67B}"/>
          </ac:spMkLst>
        </pc:spChg>
        <pc:graphicFrameChg chg="mod">
          <ac:chgData name="catapult typeR" userId="1eb73596b2575321" providerId="LiveId" clId="{20C18575-42FB-474B-92BD-2AAF7C4DF09C}" dt="2025-12-30T11:15:24.661" v="955" actId="207"/>
          <ac:graphicFrameMkLst>
            <pc:docMk/>
            <pc:sldMk cId="1695239960" sldId="272"/>
            <ac:graphicFrameMk id="6" creationId="{64516915-EC61-DE01-E393-96CAEE018390}"/>
          </ac:graphicFrameMkLst>
        </pc:graphicFrameChg>
      </pc:sldChg>
    </pc:docChg>
  </pc:docChgLst>
  <pc:docChgLst>
    <pc:chgData name="catapult typeR" userId="1eb73596b2575321" providerId="LiveId" clId="{861417AC-9432-4C05-AD70-ACD0E06136FA}"/>
    <pc:docChg chg="undo custSel addSld delSld modSld">
      <pc:chgData name="catapult typeR" userId="1eb73596b2575321" providerId="LiveId" clId="{861417AC-9432-4C05-AD70-ACD0E06136FA}" dt="2026-01-26T15:41:25.197" v="937" actId="20577"/>
      <pc:docMkLst>
        <pc:docMk/>
      </pc:docMkLst>
      <pc:sldChg chg="modSp mod">
        <pc:chgData name="catapult typeR" userId="1eb73596b2575321" providerId="LiveId" clId="{861417AC-9432-4C05-AD70-ACD0E06136FA}" dt="2026-01-26T15:40:18.839" v="890" actId="20577"/>
        <pc:sldMkLst>
          <pc:docMk/>
          <pc:sldMk cId="0" sldId="258"/>
        </pc:sldMkLst>
        <pc:spChg chg="mod">
          <ac:chgData name="catapult typeR" userId="1eb73596b2575321" providerId="LiveId" clId="{861417AC-9432-4C05-AD70-ACD0E06136FA}" dt="2026-01-26T15:40:18.839" v="890" actId="20577"/>
          <ac:spMkLst>
            <pc:docMk/>
            <pc:sldMk cId="0" sldId="258"/>
            <ac:spMk id="3" creationId="{00000000-0000-0000-0000-000000000000}"/>
          </ac:spMkLst>
        </pc:spChg>
      </pc:sldChg>
      <pc:sldChg chg="modSp mod">
        <pc:chgData name="catapult typeR" userId="1eb73596b2575321" providerId="LiveId" clId="{861417AC-9432-4C05-AD70-ACD0E06136FA}" dt="2026-01-26T15:13:32.578" v="92" actId="20577"/>
        <pc:sldMkLst>
          <pc:docMk/>
          <pc:sldMk cId="0" sldId="259"/>
        </pc:sldMkLst>
        <pc:spChg chg="mod">
          <ac:chgData name="catapult typeR" userId="1eb73596b2575321" providerId="LiveId" clId="{861417AC-9432-4C05-AD70-ACD0E06136FA}" dt="2026-01-26T15:13:32.578" v="92" actId="20577"/>
          <ac:spMkLst>
            <pc:docMk/>
            <pc:sldMk cId="0" sldId="259"/>
            <ac:spMk id="3" creationId="{00000000-0000-0000-0000-000000000000}"/>
          </ac:spMkLst>
        </pc:spChg>
      </pc:sldChg>
      <pc:sldChg chg="modSp mod">
        <pc:chgData name="catapult typeR" userId="1eb73596b2575321" providerId="LiveId" clId="{861417AC-9432-4C05-AD70-ACD0E06136FA}" dt="2026-01-26T15:41:25.197" v="937" actId="20577"/>
        <pc:sldMkLst>
          <pc:docMk/>
          <pc:sldMk cId="0" sldId="264"/>
        </pc:sldMkLst>
        <pc:spChg chg="mod">
          <ac:chgData name="catapult typeR" userId="1eb73596b2575321" providerId="LiveId" clId="{861417AC-9432-4C05-AD70-ACD0E06136FA}" dt="2026-01-26T15:41:25.197" v="937" actId="20577"/>
          <ac:spMkLst>
            <pc:docMk/>
            <pc:sldMk cId="0" sldId="264"/>
            <ac:spMk id="3" creationId="{00000000-0000-0000-0000-000000000000}"/>
          </ac:spMkLst>
        </pc:spChg>
      </pc:sldChg>
      <pc:sldChg chg="addSp modSp mod addAnim delAnim modAnim">
        <pc:chgData name="catapult typeR" userId="1eb73596b2575321" providerId="LiveId" clId="{861417AC-9432-4C05-AD70-ACD0E06136FA}" dt="2026-01-26T15:40:37.351" v="909" actId="20577"/>
        <pc:sldMkLst>
          <pc:docMk/>
          <pc:sldMk cId="1140522277" sldId="266"/>
        </pc:sldMkLst>
        <pc:spChg chg="mod">
          <ac:chgData name="catapult typeR" userId="1eb73596b2575321" providerId="LiveId" clId="{861417AC-9432-4C05-AD70-ACD0E06136FA}" dt="2026-01-26T15:40:37.351" v="909" actId="20577"/>
          <ac:spMkLst>
            <pc:docMk/>
            <pc:sldMk cId="1140522277" sldId="266"/>
            <ac:spMk id="2" creationId="{596C7FAE-1559-634D-E85F-F72D24561950}"/>
          </ac:spMkLst>
        </pc:spChg>
        <pc:spChg chg="add mod">
          <ac:chgData name="catapult typeR" userId="1eb73596b2575321" providerId="LiveId" clId="{861417AC-9432-4C05-AD70-ACD0E06136FA}" dt="2026-01-26T15:17:15.760" v="273"/>
          <ac:spMkLst>
            <pc:docMk/>
            <pc:sldMk cId="1140522277" sldId="266"/>
            <ac:spMk id="10" creationId="{65B74A2D-4B3B-A02E-940E-A2CC9635ED60}"/>
          </ac:spMkLst>
        </pc:spChg>
        <pc:spChg chg="add mod">
          <ac:chgData name="catapult typeR" userId="1eb73596b2575321" providerId="LiveId" clId="{861417AC-9432-4C05-AD70-ACD0E06136FA}" dt="2026-01-26T15:22:26.820" v="508" actId="207"/>
          <ac:spMkLst>
            <pc:docMk/>
            <pc:sldMk cId="1140522277" sldId="266"/>
            <ac:spMk id="14" creationId="{9F6DB7BC-A4CD-D129-4E25-CB5511745771}"/>
          </ac:spMkLst>
        </pc:spChg>
        <pc:spChg chg="add mod">
          <ac:chgData name="catapult typeR" userId="1eb73596b2575321" providerId="LiveId" clId="{861417AC-9432-4C05-AD70-ACD0E06136FA}" dt="2026-01-26T15:23:13.826" v="553" actId="1076"/>
          <ac:spMkLst>
            <pc:docMk/>
            <pc:sldMk cId="1140522277" sldId="266"/>
            <ac:spMk id="17" creationId="{4CF86494-3A08-9CB3-B092-C8A27DCD2A30}"/>
          </ac:spMkLst>
        </pc:spChg>
        <pc:spChg chg="mod">
          <ac:chgData name="catapult typeR" userId="1eb73596b2575321" providerId="LiveId" clId="{861417AC-9432-4C05-AD70-ACD0E06136FA}" dt="2026-01-26T15:27:00.107" v="595" actId="20577"/>
          <ac:spMkLst>
            <pc:docMk/>
            <pc:sldMk cId="1140522277" sldId="266"/>
            <ac:spMk id="21" creationId="{D257E98E-0775-C2B7-F1BF-52CAF82EC11A}"/>
          </ac:spMkLst>
        </pc:spChg>
        <pc:spChg chg="mod">
          <ac:chgData name="catapult typeR" userId="1eb73596b2575321" providerId="LiveId" clId="{861417AC-9432-4C05-AD70-ACD0E06136FA}" dt="2026-01-26T15:26:54.190" v="584" actId="20577"/>
          <ac:spMkLst>
            <pc:docMk/>
            <pc:sldMk cId="1140522277" sldId="266"/>
            <ac:spMk id="22" creationId="{2D46B64A-5D97-F3E4-12E2-EEE1AA763450}"/>
          </ac:spMkLst>
        </pc:spChg>
        <pc:cxnChg chg="add mod">
          <ac:chgData name="catapult typeR" userId="1eb73596b2575321" providerId="LiveId" clId="{861417AC-9432-4C05-AD70-ACD0E06136FA}" dt="2026-01-26T15:17:15.760" v="273"/>
          <ac:cxnSpMkLst>
            <pc:docMk/>
            <pc:sldMk cId="1140522277" sldId="266"/>
            <ac:cxnSpMk id="3" creationId="{24D89924-5AEA-DEE4-0229-5737045B079C}"/>
          </ac:cxnSpMkLst>
        </pc:cxnChg>
        <pc:cxnChg chg="add mod">
          <ac:chgData name="catapult typeR" userId="1eb73596b2575321" providerId="LiveId" clId="{861417AC-9432-4C05-AD70-ACD0E06136FA}" dt="2026-01-26T15:17:15.760" v="273"/>
          <ac:cxnSpMkLst>
            <pc:docMk/>
            <pc:sldMk cId="1140522277" sldId="266"/>
            <ac:cxnSpMk id="6" creationId="{3F116B3F-F046-C6E3-B01A-542E8ADED693}"/>
          </ac:cxnSpMkLst>
        </pc:cxnChg>
      </pc:sldChg>
      <pc:sldChg chg="addSp modSp modAnim">
        <pc:chgData name="catapult typeR" userId="1eb73596b2575321" providerId="LiveId" clId="{861417AC-9432-4C05-AD70-ACD0E06136FA}" dt="2026-01-26T15:40:46.380" v="910"/>
        <pc:sldMkLst>
          <pc:docMk/>
          <pc:sldMk cId="152551231" sldId="268"/>
        </pc:sldMkLst>
        <pc:spChg chg="mod">
          <ac:chgData name="catapult typeR" userId="1eb73596b2575321" providerId="LiveId" clId="{861417AC-9432-4C05-AD70-ACD0E06136FA}" dt="2026-01-26T15:40:46.380" v="910"/>
          <ac:spMkLst>
            <pc:docMk/>
            <pc:sldMk cId="152551231" sldId="268"/>
            <ac:spMk id="2" creationId="{596C7FAE-1559-634D-E85F-F72D24561950}"/>
          </ac:spMkLst>
        </pc:spChg>
        <pc:spChg chg="add mod">
          <ac:chgData name="catapult typeR" userId="1eb73596b2575321" providerId="LiveId" clId="{861417AC-9432-4C05-AD70-ACD0E06136FA}" dt="2026-01-26T15:17:13.695" v="272"/>
          <ac:spMkLst>
            <pc:docMk/>
            <pc:sldMk cId="152551231" sldId="268"/>
            <ac:spMk id="10" creationId="{7AB67B11-82E6-0E6A-4C4E-B4CEE365836E}"/>
          </ac:spMkLst>
        </pc:spChg>
        <pc:spChg chg="add mod">
          <ac:chgData name="catapult typeR" userId="1eb73596b2575321" providerId="LiveId" clId="{861417AC-9432-4C05-AD70-ACD0E06136FA}" dt="2026-01-26T15:23:17.408" v="554"/>
          <ac:spMkLst>
            <pc:docMk/>
            <pc:sldMk cId="152551231" sldId="268"/>
            <ac:spMk id="14" creationId="{0F762542-27AC-4F5D-939E-2D4325C26ABD}"/>
          </ac:spMkLst>
        </pc:spChg>
        <pc:spChg chg="add mod">
          <ac:chgData name="catapult typeR" userId="1eb73596b2575321" providerId="LiveId" clId="{861417AC-9432-4C05-AD70-ACD0E06136FA}" dt="2026-01-26T15:23:22.496" v="555"/>
          <ac:spMkLst>
            <pc:docMk/>
            <pc:sldMk cId="152551231" sldId="268"/>
            <ac:spMk id="17" creationId="{55768DD9-70C6-85BA-1E3E-B1F0684114B0}"/>
          </ac:spMkLst>
        </pc:spChg>
        <pc:cxnChg chg="add mod">
          <ac:chgData name="catapult typeR" userId="1eb73596b2575321" providerId="LiveId" clId="{861417AC-9432-4C05-AD70-ACD0E06136FA}" dt="2026-01-26T15:17:13.695" v="272"/>
          <ac:cxnSpMkLst>
            <pc:docMk/>
            <pc:sldMk cId="152551231" sldId="268"/>
            <ac:cxnSpMk id="5" creationId="{A94F4481-9333-79E3-6D85-BAE1FB1C1E55}"/>
          </ac:cxnSpMkLst>
        </pc:cxnChg>
        <pc:cxnChg chg="add mod">
          <ac:chgData name="catapult typeR" userId="1eb73596b2575321" providerId="LiveId" clId="{861417AC-9432-4C05-AD70-ACD0E06136FA}" dt="2026-01-26T15:17:13.695" v="272"/>
          <ac:cxnSpMkLst>
            <pc:docMk/>
            <pc:sldMk cId="152551231" sldId="268"/>
            <ac:cxnSpMk id="6" creationId="{D77E7460-C9B4-B1FD-9D47-3D2D83CDD1C2}"/>
          </ac:cxnSpMkLst>
        </pc:cxnChg>
      </pc:sldChg>
      <pc:sldChg chg="modSp mod">
        <pc:chgData name="catapult typeR" userId="1eb73596b2575321" providerId="LiveId" clId="{861417AC-9432-4C05-AD70-ACD0E06136FA}" dt="2026-01-26T15:39:36.065" v="846" actId="20577"/>
        <pc:sldMkLst>
          <pc:docMk/>
          <pc:sldMk cId="3389353998" sldId="271"/>
        </pc:sldMkLst>
        <pc:graphicFrameChg chg="mod modGraphic">
          <ac:chgData name="catapult typeR" userId="1eb73596b2575321" providerId="LiveId" clId="{861417AC-9432-4C05-AD70-ACD0E06136FA}" dt="2026-01-26T15:39:36.065" v="846" actId="20577"/>
          <ac:graphicFrameMkLst>
            <pc:docMk/>
            <pc:sldMk cId="3389353998" sldId="271"/>
            <ac:graphicFrameMk id="4" creationId="{310DCC35-8DC0-9349-AE1A-8391ECCCE7E7}"/>
          </ac:graphicFrameMkLst>
        </pc:graphicFrameChg>
      </pc:sldChg>
      <pc:sldChg chg="new del">
        <pc:chgData name="catapult typeR" userId="1eb73596b2575321" providerId="LiveId" clId="{861417AC-9432-4C05-AD70-ACD0E06136FA}" dt="2026-01-26T15:13:49.487" v="95" actId="47"/>
        <pc:sldMkLst>
          <pc:docMk/>
          <pc:sldMk cId="3999536932" sldId="273"/>
        </pc:sldMkLst>
      </pc:sldChg>
      <pc:sldChg chg="addSp delSp modSp add mod addAnim delAnim modAnim modNotesTx">
        <pc:chgData name="catapult typeR" userId="1eb73596b2575321" providerId="LiveId" clId="{861417AC-9432-4C05-AD70-ACD0E06136FA}" dt="2026-01-26T15:40:54.804" v="923" actId="20577"/>
        <pc:sldMkLst>
          <pc:docMk/>
          <pc:sldMk cId="2741323169" sldId="274"/>
        </pc:sldMkLst>
        <pc:spChg chg="mod">
          <ac:chgData name="catapult typeR" userId="1eb73596b2575321" providerId="LiveId" clId="{861417AC-9432-4C05-AD70-ACD0E06136FA}" dt="2026-01-26T15:40:54.804" v="923" actId="20577"/>
          <ac:spMkLst>
            <pc:docMk/>
            <pc:sldMk cId="2741323169" sldId="274"/>
            <ac:spMk id="2" creationId="{596C7FAE-1559-634D-E85F-F72D24561950}"/>
          </ac:spMkLst>
        </pc:spChg>
        <pc:spChg chg="mod">
          <ac:chgData name="catapult typeR" userId="1eb73596b2575321" providerId="LiveId" clId="{861417AC-9432-4C05-AD70-ACD0E06136FA}" dt="2026-01-26T15:15:03.643" v="137" actId="20577"/>
          <ac:spMkLst>
            <pc:docMk/>
            <pc:sldMk cId="2741323169" sldId="274"/>
            <ac:spMk id="4" creationId="{0AA894B7-3782-CE7E-8FC8-446392355166}"/>
          </ac:spMkLst>
        </pc:spChg>
        <pc:spChg chg="del">
          <ac:chgData name="catapult typeR" userId="1eb73596b2575321" providerId="LiveId" clId="{861417AC-9432-4C05-AD70-ACD0E06136FA}" dt="2026-01-26T15:17:25.475" v="275" actId="478"/>
          <ac:spMkLst>
            <pc:docMk/>
            <pc:sldMk cId="2741323169" sldId="274"/>
            <ac:spMk id="16" creationId="{051043FA-1F4F-8AC4-CC68-EB7C85E39CAE}"/>
          </ac:spMkLst>
        </pc:spChg>
        <pc:spChg chg="del">
          <ac:chgData name="catapult typeR" userId="1eb73596b2575321" providerId="LiveId" clId="{861417AC-9432-4C05-AD70-ACD0E06136FA}" dt="2026-01-26T15:17:57.786" v="285" actId="478"/>
          <ac:spMkLst>
            <pc:docMk/>
            <pc:sldMk cId="2741323169" sldId="274"/>
            <ac:spMk id="21" creationId="{D257E98E-0775-C2B7-F1BF-52CAF82EC11A}"/>
          </ac:spMkLst>
        </pc:spChg>
        <pc:spChg chg="mod">
          <ac:chgData name="catapult typeR" userId="1eb73596b2575321" providerId="LiveId" clId="{861417AC-9432-4C05-AD70-ACD0E06136FA}" dt="2026-01-26T15:15:48.546" v="190" actId="20577"/>
          <ac:spMkLst>
            <pc:docMk/>
            <pc:sldMk cId="2741323169" sldId="274"/>
            <ac:spMk id="22" creationId="{2D46B64A-5D97-F3E4-12E2-EEE1AA763450}"/>
          </ac:spMkLst>
        </pc:spChg>
        <pc:spChg chg="mod">
          <ac:chgData name="catapult typeR" userId="1eb73596b2575321" providerId="LiveId" clId="{861417AC-9432-4C05-AD70-ACD0E06136FA}" dt="2026-01-26T15:35:08.357" v="730" actId="21"/>
          <ac:spMkLst>
            <pc:docMk/>
            <pc:sldMk cId="2741323169" sldId="274"/>
            <ac:spMk id="23" creationId="{9EE04925-E9D8-BAA6-0BF6-B1A2DFE4FED4}"/>
          </ac:spMkLst>
        </pc:spChg>
        <pc:spChg chg="add mod">
          <ac:chgData name="catapult typeR" userId="1eb73596b2575321" providerId="LiveId" clId="{861417AC-9432-4C05-AD70-ACD0E06136FA}" dt="2026-01-26T15:23:51.773" v="558" actId="20577"/>
          <ac:spMkLst>
            <pc:docMk/>
            <pc:sldMk cId="2741323169" sldId="274"/>
            <ac:spMk id="25" creationId="{9875D410-8945-8518-87F0-4E547BC241A5}"/>
          </ac:spMkLst>
        </pc:spChg>
        <pc:spChg chg="add mod">
          <ac:chgData name="catapult typeR" userId="1eb73596b2575321" providerId="LiveId" clId="{861417AC-9432-4C05-AD70-ACD0E06136FA}" dt="2026-01-26T15:18:02.887" v="286" actId="1076"/>
          <ac:spMkLst>
            <pc:docMk/>
            <pc:sldMk cId="2741323169" sldId="274"/>
            <ac:spMk id="28" creationId="{261E8DE8-8925-1891-548A-094CA0A43AFD}"/>
          </ac:spMkLst>
        </pc:spChg>
        <pc:spChg chg="add mod">
          <ac:chgData name="catapult typeR" userId="1eb73596b2575321" providerId="LiveId" clId="{861417AC-9432-4C05-AD70-ACD0E06136FA}" dt="2026-01-26T15:23:29.215" v="556"/>
          <ac:spMkLst>
            <pc:docMk/>
            <pc:sldMk cId="2741323169" sldId="274"/>
            <ac:spMk id="29" creationId="{CFA7C608-DC78-EC8D-906B-400E7C98572F}"/>
          </ac:spMkLst>
        </pc:spChg>
        <pc:spChg chg="add mod">
          <ac:chgData name="catapult typeR" userId="1eb73596b2575321" providerId="LiveId" clId="{861417AC-9432-4C05-AD70-ACD0E06136FA}" dt="2026-01-26T15:23:29.215" v="556"/>
          <ac:spMkLst>
            <pc:docMk/>
            <pc:sldMk cId="2741323169" sldId="274"/>
            <ac:spMk id="30" creationId="{740E0AB8-E642-52B8-DEEC-6376554BD546}"/>
          </ac:spMkLst>
        </pc:spChg>
        <pc:spChg chg="add mod">
          <ac:chgData name="catapult typeR" userId="1eb73596b2575321" providerId="LiveId" clId="{861417AC-9432-4C05-AD70-ACD0E06136FA}" dt="2026-01-26T15:35:16.835" v="732" actId="1076"/>
          <ac:spMkLst>
            <pc:docMk/>
            <pc:sldMk cId="2741323169" sldId="274"/>
            <ac:spMk id="31" creationId="{B253723D-3BC6-F866-2CCE-33C6690C8F77}"/>
          </ac:spMkLst>
        </pc:spChg>
        <pc:cxnChg chg="add mod">
          <ac:chgData name="catapult typeR" userId="1eb73596b2575321" providerId="LiveId" clId="{861417AC-9432-4C05-AD70-ACD0E06136FA}" dt="2026-01-26T15:15:39.005" v="169" actId="14100"/>
          <ac:cxnSpMkLst>
            <pc:docMk/>
            <pc:sldMk cId="2741323169" sldId="274"/>
            <ac:cxnSpMk id="10" creationId="{3B127CD6-AEFE-AF22-7E18-2C518AFCF232}"/>
          </ac:cxnSpMkLst>
        </pc:cxnChg>
        <pc:cxnChg chg="del">
          <ac:chgData name="catapult typeR" userId="1eb73596b2575321" providerId="LiveId" clId="{861417AC-9432-4C05-AD70-ACD0E06136FA}" dt="2026-01-26T15:17:23.586" v="274" actId="478"/>
          <ac:cxnSpMkLst>
            <pc:docMk/>
            <pc:sldMk cId="2741323169" sldId="274"/>
            <ac:cxnSpMk id="15" creationId="{6FD83957-CDA9-C643-176B-CF96A61916FA}"/>
          </ac:cxnSpMkLst>
        </pc:cxnChg>
        <pc:cxnChg chg="add mod">
          <ac:chgData name="catapult typeR" userId="1eb73596b2575321" providerId="LiveId" clId="{861417AC-9432-4C05-AD70-ACD0E06136FA}" dt="2026-01-26T15:16:24.957" v="206" actId="1076"/>
          <ac:cxnSpMkLst>
            <pc:docMk/>
            <pc:sldMk cId="2741323169" sldId="274"/>
            <ac:cxnSpMk id="17" creationId="{5150B4DE-B63D-8DFD-662A-829EC365C703}"/>
          </ac:cxnSpMkLst>
        </pc:cxnChg>
        <pc:cxnChg chg="mod">
          <ac:chgData name="catapult typeR" userId="1eb73596b2575321" providerId="LiveId" clId="{861417AC-9432-4C05-AD70-ACD0E06136FA}" dt="2026-01-26T15:17:34.750" v="276" actId="208"/>
          <ac:cxnSpMkLst>
            <pc:docMk/>
            <pc:sldMk cId="2741323169" sldId="274"/>
            <ac:cxnSpMk id="18" creationId="{D502028B-9CBB-B915-9A37-198DA74DA8B3}"/>
          </ac:cxnSpMkLst>
        </pc:cxnChg>
        <pc:cxnChg chg="mod">
          <ac:chgData name="catapult typeR" userId="1eb73596b2575321" providerId="LiveId" clId="{861417AC-9432-4C05-AD70-ACD0E06136FA}" dt="2026-01-26T15:14:39.230" v="124" actId="208"/>
          <ac:cxnSpMkLst>
            <pc:docMk/>
            <pc:sldMk cId="2741323169" sldId="274"/>
            <ac:cxnSpMk id="19" creationId="{21196460-8CDB-B24F-D067-97853DD49539}"/>
          </ac:cxnSpMkLst>
        </pc:cxnChg>
        <pc:cxnChg chg="add mod">
          <ac:chgData name="catapult typeR" userId="1eb73596b2575321" providerId="LiveId" clId="{861417AC-9432-4C05-AD70-ACD0E06136FA}" dt="2026-01-26T15:23:54.731" v="559" actId="1076"/>
          <ac:cxnSpMkLst>
            <pc:docMk/>
            <pc:sldMk cId="2741323169" sldId="274"/>
            <ac:cxnSpMk id="20" creationId="{1BC02496-34A9-D2BA-1749-1C904A98B2FE}"/>
          </ac:cxnSpMkLst>
        </pc:cxnChg>
        <pc:cxnChg chg="add mod">
          <ac:chgData name="catapult typeR" userId="1eb73596b2575321" providerId="LiveId" clId="{861417AC-9432-4C05-AD70-ACD0E06136FA}" dt="2026-01-26T15:17:44.355" v="280" actId="1076"/>
          <ac:cxnSpMkLst>
            <pc:docMk/>
            <pc:sldMk cId="2741323169" sldId="274"/>
            <ac:cxnSpMk id="26" creationId="{E02B8FC6-41AF-B23B-B688-4A5086FE1CBC}"/>
          </ac:cxnSpMkLst>
        </pc:cxnChg>
      </pc:sldChg>
      <pc:sldChg chg="addSp delSp modSp new mod">
        <pc:chgData name="catapult typeR" userId="1eb73596b2575321" providerId="LiveId" clId="{861417AC-9432-4C05-AD70-ACD0E06136FA}" dt="2026-01-26T15:32:13.712" v="726" actId="20577"/>
        <pc:sldMkLst>
          <pc:docMk/>
          <pc:sldMk cId="727335633" sldId="275"/>
        </pc:sldMkLst>
        <pc:spChg chg="del">
          <ac:chgData name="catapult typeR" userId="1eb73596b2575321" providerId="LiveId" clId="{861417AC-9432-4C05-AD70-ACD0E06136FA}" dt="2026-01-26T15:18:19.680" v="288" actId="478"/>
          <ac:spMkLst>
            <pc:docMk/>
            <pc:sldMk cId="727335633" sldId="275"/>
            <ac:spMk id="2" creationId="{B8CE385B-F203-1B38-2B5F-F7610DFA10D1}"/>
          </ac:spMkLst>
        </pc:spChg>
        <pc:spChg chg="add del mod">
          <ac:chgData name="catapult typeR" userId="1eb73596b2575321" providerId="LiveId" clId="{861417AC-9432-4C05-AD70-ACD0E06136FA}" dt="2026-01-26T15:32:13.712" v="726" actId="20577"/>
          <ac:spMkLst>
            <pc:docMk/>
            <pc:sldMk cId="727335633" sldId="275"/>
            <ac:spMk id="3" creationId="{AC1B9B6A-51A7-F3E1-056D-2DFE04275DB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tx>
            <c:strRef>
              <c:f>Sheet1!$B$1</c:f>
              <c:strCache>
                <c:ptCount val="1"/>
                <c:pt idx="0">
                  <c:v>連券の所有金額(億円)</c:v>
                </c:pt>
              </c:strCache>
            </c:strRef>
          </c:tx>
          <c:spPr>
            <a:ln>
              <a:solidFill>
                <a:schemeClr val="bg1"/>
              </a:solidFill>
            </a:ln>
          </c:spPr>
          <c:dPt>
            <c:idx val="0"/>
            <c:bubble3D val="0"/>
            <c:spPr>
              <a:solidFill>
                <a:schemeClr val="accent1"/>
              </a:solidFill>
              <a:ln w="19050">
                <a:solidFill>
                  <a:schemeClr val="bg1"/>
                </a:solidFill>
              </a:ln>
              <a:effectLst/>
            </c:spPr>
            <c:extLst>
              <c:ext xmlns:c16="http://schemas.microsoft.com/office/drawing/2014/chart" uri="{C3380CC4-5D6E-409C-BE32-E72D297353CC}">
                <c16:uniqueId val="{00000001-2D30-4AC7-BEA4-C172E03A1AFD}"/>
              </c:ext>
            </c:extLst>
          </c:dPt>
          <c:dPt>
            <c:idx val="1"/>
            <c:bubble3D val="0"/>
            <c:spPr>
              <a:solidFill>
                <a:schemeClr val="accent1">
                  <a:lumMod val="75000"/>
                </a:schemeClr>
              </a:solidFill>
              <a:ln w="19050">
                <a:solidFill>
                  <a:schemeClr val="bg1"/>
                </a:solidFill>
              </a:ln>
              <a:effectLst/>
            </c:spPr>
            <c:extLst>
              <c:ext xmlns:c16="http://schemas.microsoft.com/office/drawing/2014/chart" uri="{C3380CC4-5D6E-409C-BE32-E72D297353CC}">
                <c16:uniqueId val="{00000001-12FC-46DA-AFBF-6A29149AC090}"/>
              </c:ext>
            </c:extLst>
          </c:dPt>
          <c:dPt>
            <c:idx val="2"/>
            <c:bubble3D val="0"/>
            <c:spPr>
              <a:solidFill>
                <a:schemeClr val="accent1">
                  <a:lumMod val="60000"/>
                  <a:lumOff val="40000"/>
                </a:schemeClr>
              </a:solidFill>
              <a:ln w="19050">
                <a:solidFill>
                  <a:schemeClr val="bg1"/>
                </a:solidFill>
              </a:ln>
              <a:effectLst/>
            </c:spPr>
            <c:extLst>
              <c:ext xmlns:c16="http://schemas.microsoft.com/office/drawing/2014/chart" uri="{C3380CC4-5D6E-409C-BE32-E72D297353CC}">
                <c16:uniqueId val="{00000002-12FC-46DA-AFBF-6A29149AC090}"/>
              </c:ext>
            </c:extLst>
          </c:dPt>
          <c:dPt>
            <c:idx val="3"/>
            <c:bubble3D val="0"/>
            <c:spPr>
              <a:solidFill>
                <a:schemeClr val="accent2"/>
              </a:solidFill>
              <a:ln w="19050">
                <a:solidFill>
                  <a:schemeClr val="bg1"/>
                </a:solidFill>
              </a:ln>
              <a:effectLst/>
            </c:spPr>
            <c:extLst>
              <c:ext xmlns:c16="http://schemas.microsoft.com/office/drawing/2014/chart" uri="{C3380CC4-5D6E-409C-BE32-E72D297353CC}">
                <c16:uniqueId val="{00000003-12FC-46DA-AFBF-6A29149AC090}"/>
              </c:ext>
            </c:extLst>
          </c:dPt>
          <c:cat>
            <c:strRef>
              <c:f>Sheet1!$A$2:$A$5</c:f>
              <c:strCache>
                <c:ptCount val="4"/>
                <c:pt idx="0">
                  <c:v>Y社</c:v>
                </c:pt>
                <c:pt idx="1">
                  <c:v>Z社</c:v>
                </c:pt>
                <c:pt idx="3">
                  <c:v>個人</c:v>
                </c:pt>
              </c:strCache>
            </c:strRef>
          </c:cat>
          <c:val>
            <c:numRef>
              <c:f>Sheet1!$B$2:$B$5</c:f>
              <c:numCache>
                <c:formatCode>General</c:formatCode>
                <c:ptCount val="4"/>
                <c:pt idx="0">
                  <c:v>4.5999999999999996</c:v>
                </c:pt>
                <c:pt idx="1">
                  <c:v>1.9</c:v>
                </c:pt>
                <c:pt idx="2">
                  <c:v>0</c:v>
                </c:pt>
                <c:pt idx="3">
                  <c:v>1.2</c:v>
                </c:pt>
              </c:numCache>
            </c:numRef>
          </c:val>
          <c:extLst>
            <c:ext xmlns:c16="http://schemas.microsoft.com/office/drawing/2014/chart" uri="{C3380CC4-5D6E-409C-BE32-E72D297353CC}">
              <c16:uniqueId val="{00000000-12FC-46DA-AFBF-6A29149AC090}"/>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tx>
            <c:strRef>
              <c:f>Sheet1!$B$1</c:f>
              <c:strCache>
                <c:ptCount val="1"/>
                <c:pt idx="0">
                  <c:v>連券の所有金額(億円)</c:v>
                </c:pt>
              </c:strCache>
            </c:strRef>
          </c:tx>
          <c:spPr>
            <a:ln>
              <a:solidFill>
                <a:schemeClr val="bg1"/>
              </a:solidFill>
            </a:ln>
          </c:spPr>
          <c:dPt>
            <c:idx val="0"/>
            <c:bubble3D val="0"/>
            <c:spPr>
              <a:solidFill>
                <a:schemeClr val="accent1"/>
              </a:solidFill>
              <a:ln w="19050">
                <a:solidFill>
                  <a:schemeClr val="bg1"/>
                </a:solidFill>
              </a:ln>
              <a:effectLst/>
            </c:spPr>
            <c:extLst>
              <c:ext xmlns:c16="http://schemas.microsoft.com/office/drawing/2014/chart" uri="{C3380CC4-5D6E-409C-BE32-E72D297353CC}">
                <c16:uniqueId val="{00000001-2D30-4AC7-BEA4-C172E03A1AFD}"/>
              </c:ext>
            </c:extLst>
          </c:dPt>
          <c:dPt>
            <c:idx val="1"/>
            <c:bubble3D val="0"/>
            <c:spPr>
              <a:solidFill>
                <a:schemeClr val="accent5"/>
              </a:solidFill>
              <a:ln w="19050">
                <a:solidFill>
                  <a:schemeClr val="bg1"/>
                </a:solidFill>
              </a:ln>
              <a:effectLst/>
            </c:spPr>
            <c:extLst>
              <c:ext xmlns:c16="http://schemas.microsoft.com/office/drawing/2014/chart" uri="{C3380CC4-5D6E-409C-BE32-E72D297353CC}">
                <c16:uniqueId val="{00000001-12FC-46DA-AFBF-6A29149AC090}"/>
              </c:ext>
            </c:extLst>
          </c:dPt>
          <c:dPt>
            <c:idx val="2"/>
            <c:bubble3D val="0"/>
            <c:spPr>
              <a:solidFill>
                <a:schemeClr val="accent1">
                  <a:lumMod val="60000"/>
                  <a:lumOff val="40000"/>
                </a:schemeClr>
              </a:solidFill>
              <a:ln w="19050">
                <a:solidFill>
                  <a:schemeClr val="bg1"/>
                </a:solidFill>
              </a:ln>
              <a:effectLst/>
            </c:spPr>
            <c:extLst>
              <c:ext xmlns:c16="http://schemas.microsoft.com/office/drawing/2014/chart" uri="{C3380CC4-5D6E-409C-BE32-E72D297353CC}">
                <c16:uniqueId val="{00000002-12FC-46DA-AFBF-6A29149AC090}"/>
              </c:ext>
            </c:extLst>
          </c:dPt>
          <c:dPt>
            <c:idx val="3"/>
            <c:bubble3D val="0"/>
            <c:spPr>
              <a:solidFill>
                <a:schemeClr val="tx2">
                  <a:lumMod val="40000"/>
                  <a:lumOff val="60000"/>
                </a:schemeClr>
              </a:solidFill>
              <a:ln w="19050">
                <a:solidFill>
                  <a:schemeClr val="bg1"/>
                </a:solidFill>
              </a:ln>
              <a:effectLst/>
            </c:spPr>
            <c:extLst>
              <c:ext xmlns:c16="http://schemas.microsoft.com/office/drawing/2014/chart" uri="{C3380CC4-5D6E-409C-BE32-E72D297353CC}">
                <c16:uniqueId val="{00000003-12FC-46DA-AFBF-6A29149AC090}"/>
              </c:ext>
            </c:extLst>
          </c:dPt>
          <c:dPt>
            <c:idx val="4"/>
            <c:bubble3D val="0"/>
            <c:spPr>
              <a:solidFill>
                <a:schemeClr val="bg1"/>
              </a:solidFill>
              <a:ln w="19050">
                <a:solidFill>
                  <a:schemeClr val="bg1"/>
                </a:solidFill>
              </a:ln>
              <a:effectLst/>
            </c:spPr>
            <c:extLst>
              <c:ext xmlns:c16="http://schemas.microsoft.com/office/drawing/2014/chart" uri="{C3380CC4-5D6E-409C-BE32-E72D297353CC}">
                <c16:uniqueId val="{00000000-1697-4BF4-875C-CA01C903E265}"/>
              </c:ext>
            </c:extLst>
          </c:dPt>
          <c:dPt>
            <c:idx val="5"/>
            <c:bubble3D val="0"/>
            <c:spPr>
              <a:solidFill>
                <a:schemeClr val="bg1"/>
              </a:solidFill>
              <a:ln w="19050">
                <a:solidFill>
                  <a:schemeClr val="bg1"/>
                </a:solidFill>
              </a:ln>
              <a:effectLst/>
            </c:spPr>
            <c:extLst>
              <c:ext xmlns:c16="http://schemas.microsoft.com/office/drawing/2014/chart" uri="{C3380CC4-5D6E-409C-BE32-E72D297353CC}">
                <c16:uniqueId val="{0000000A-3562-40AF-B455-5742B8BDBB03}"/>
              </c:ext>
            </c:extLst>
          </c:dPt>
          <c:cat>
            <c:strRef>
              <c:f>Sheet1!$A$2:$A$7</c:f>
              <c:strCache>
                <c:ptCount val="6"/>
                <c:pt idx="0">
                  <c:v>株主1</c:v>
                </c:pt>
                <c:pt idx="1">
                  <c:v>株主2</c:v>
                </c:pt>
                <c:pt idx="3">
                  <c:v>株主3</c:v>
                </c:pt>
                <c:pt idx="4">
                  <c:v>Z社</c:v>
                </c:pt>
                <c:pt idx="5">
                  <c:v>個人</c:v>
                </c:pt>
              </c:strCache>
            </c:strRef>
          </c:cat>
          <c:val>
            <c:numRef>
              <c:f>Sheet1!$B$2:$B$7</c:f>
              <c:numCache>
                <c:formatCode>General</c:formatCode>
                <c:ptCount val="6"/>
                <c:pt idx="0">
                  <c:v>2</c:v>
                </c:pt>
                <c:pt idx="1">
                  <c:v>1.6</c:v>
                </c:pt>
                <c:pt idx="3">
                  <c:v>1</c:v>
                </c:pt>
                <c:pt idx="4">
                  <c:v>1.9</c:v>
                </c:pt>
                <c:pt idx="5">
                  <c:v>1.2</c:v>
                </c:pt>
              </c:numCache>
            </c:numRef>
          </c:val>
          <c:extLst>
            <c:ext xmlns:c16="http://schemas.microsoft.com/office/drawing/2014/chart" uri="{C3380CC4-5D6E-409C-BE32-E72D297353CC}">
              <c16:uniqueId val="{00000000-12FC-46DA-AFBF-6A29149AC090}"/>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1"/>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Entry>
      <c:legendEntry>
        <c:idx val="2"/>
        <c:delete val="1"/>
      </c:legendEntry>
      <c:layout>
        <c:manualLayout>
          <c:xMode val="edge"/>
          <c:yMode val="edge"/>
          <c:x val="0.29556661320112765"/>
          <c:y val="0.92574132842005119"/>
          <c:w val="0.39497776319626715"/>
          <c:h val="5.7422475614581914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C8EDB-96BB-442F-AB4E-6D4CA14E657A}" type="datetimeFigureOut">
              <a:rPr kumimoji="1" lang="ja-JP" altLang="en-US" smtClean="0"/>
              <a:t>2026/1/31</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B7F02-2E82-4FAA-A4FB-97314269D186}" type="slidenum">
              <a:rPr kumimoji="1" lang="ja-JP" altLang="en-US" smtClean="0"/>
              <a:t>‹#›</a:t>
            </a:fld>
            <a:endParaRPr kumimoji="1" lang="ja-JP" altLang="en-US"/>
          </a:p>
        </p:txBody>
      </p:sp>
    </p:spTree>
    <p:extLst>
      <p:ext uri="{BB962C8B-B14F-4D97-AF65-F5344CB8AC3E}">
        <p14:creationId xmlns:p14="http://schemas.microsoft.com/office/powerpoint/2010/main" val="342916474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連券には</a:t>
            </a:r>
            <a:r>
              <a:rPr kumimoji="1" lang="en-US" altLang="ja-JP" dirty="0" err="1"/>
              <a:t>BtoB</a:t>
            </a:r>
            <a:r>
              <a:rPr kumimoji="1" lang="ja-JP" altLang="en-US" dirty="0"/>
              <a:t>と</a:t>
            </a:r>
            <a:r>
              <a:rPr kumimoji="1" lang="en-US" altLang="ja-JP" dirty="0" err="1"/>
              <a:t>BtoC</a:t>
            </a:r>
            <a:r>
              <a:rPr kumimoji="1" lang="ja-JP" altLang="en-US" dirty="0"/>
              <a:t>両方がある</a:t>
            </a:r>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5</a:t>
            </a:fld>
            <a:endParaRPr kumimoji="1" lang="ja-JP" altLang="en-US"/>
          </a:p>
        </p:txBody>
      </p:sp>
    </p:spTree>
    <p:extLst>
      <p:ext uri="{BB962C8B-B14F-4D97-AF65-F5344CB8AC3E}">
        <p14:creationId xmlns:p14="http://schemas.microsoft.com/office/powerpoint/2010/main" val="3020433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これによりスポンサー企業の出資形態も変わる</a:t>
            </a:r>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6</a:t>
            </a:fld>
            <a:endParaRPr kumimoji="1" lang="ja-JP" altLang="en-US"/>
          </a:p>
        </p:txBody>
      </p:sp>
    </p:spTree>
    <p:extLst>
      <p:ext uri="{BB962C8B-B14F-4D97-AF65-F5344CB8AC3E}">
        <p14:creationId xmlns:p14="http://schemas.microsoft.com/office/powerpoint/2010/main" val="4013604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プロジェクト終了時</a:t>
            </a:r>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7</a:t>
            </a:fld>
            <a:endParaRPr kumimoji="1" lang="ja-JP" altLang="en-US"/>
          </a:p>
        </p:txBody>
      </p:sp>
    </p:spTree>
    <p:extLst>
      <p:ext uri="{BB962C8B-B14F-4D97-AF65-F5344CB8AC3E}">
        <p14:creationId xmlns:p14="http://schemas.microsoft.com/office/powerpoint/2010/main" val="2634738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この場合</a:t>
            </a:r>
            <a:r>
              <a:rPr kumimoji="1" lang="en-US" altLang="ja-JP" dirty="0"/>
              <a:t>Y</a:t>
            </a:r>
            <a:r>
              <a:rPr kumimoji="1" lang="ja-JP" altLang="en-US" dirty="0"/>
              <a:t>社が連券の過半数を押さえているのでプロジェクト担当企業として主導権があります。</a:t>
            </a:r>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9</a:t>
            </a:fld>
            <a:endParaRPr kumimoji="1" lang="ja-JP" altLang="en-US"/>
          </a:p>
        </p:txBody>
      </p:sp>
    </p:spTree>
    <p:extLst>
      <p:ext uri="{BB962C8B-B14F-4D97-AF65-F5344CB8AC3E}">
        <p14:creationId xmlns:p14="http://schemas.microsoft.com/office/powerpoint/2010/main" val="3555745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そして</a:t>
            </a:r>
            <a:r>
              <a:rPr kumimoji="1" lang="en-US" altLang="ja-JP" dirty="0"/>
              <a:t>Y</a:t>
            </a:r>
            <a:r>
              <a:rPr kumimoji="1" lang="ja-JP" altLang="en-US" dirty="0"/>
              <a:t>社の株主もその比率に応じて発言権があります。</a:t>
            </a:r>
            <a:endParaRPr kumimoji="1" lang="en-US" altLang="ja-JP" dirty="0"/>
          </a:p>
          <a:p>
            <a:r>
              <a:rPr kumimoji="1" lang="ja-JP" altLang="en-US" dirty="0"/>
              <a:t>この場合株主</a:t>
            </a:r>
            <a:r>
              <a:rPr kumimoji="1" lang="en-US" altLang="ja-JP" dirty="0"/>
              <a:t>1</a:t>
            </a:r>
            <a:r>
              <a:rPr kumimoji="1" lang="ja-JP" altLang="en-US" dirty="0"/>
              <a:t>が</a:t>
            </a:r>
            <a:r>
              <a:rPr kumimoji="1" lang="en-US" altLang="ja-JP" dirty="0"/>
              <a:t>Y</a:t>
            </a:r>
            <a:r>
              <a:rPr kumimoji="1" lang="ja-JP" altLang="en-US" dirty="0"/>
              <a:t>社の役</a:t>
            </a:r>
            <a:r>
              <a:rPr kumimoji="1" lang="en-US" altLang="ja-JP" dirty="0"/>
              <a:t>43.5%</a:t>
            </a:r>
            <a:r>
              <a:rPr kumimoji="1" lang="ja-JP" altLang="en-US" dirty="0"/>
              <a:t>保持しており、</a:t>
            </a:r>
            <a:r>
              <a:rPr kumimoji="1" lang="en-US" altLang="ja-JP" dirty="0"/>
              <a:t>Y</a:t>
            </a:r>
            <a:r>
              <a:rPr kumimoji="1" lang="ja-JP" altLang="en-US" dirty="0"/>
              <a:t>社はプロジェクト全体の</a:t>
            </a:r>
            <a:r>
              <a:rPr kumimoji="1" lang="en-US" altLang="ja-JP" dirty="0"/>
              <a:t>59.7%</a:t>
            </a:r>
            <a:r>
              <a:rPr kumimoji="1" lang="ja-JP" altLang="en-US" dirty="0"/>
              <a:t>を持っているので株主</a:t>
            </a:r>
            <a:r>
              <a:rPr kumimoji="1" lang="en-US" altLang="ja-JP" dirty="0"/>
              <a:t>1</a:t>
            </a:r>
            <a:r>
              <a:rPr kumimoji="1" lang="ja-JP" altLang="en-US" dirty="0"/>
              <a:t>はプロジェクト</a:t>
            </a:r>
            <a:r>
              <a:rPr kumimoji="1" lang="en-US" altLang="ja-JP" dirty="0"/>
              <a:t>X</a:t>
            </a:r>
            <a:r>
              <a:rPr kumimoji="1" lang="ja-JP" altLang="en-US" dirty="0"/>
              <a:t>に対して約</a:t>
            </a:r>
            <a:r>
              <a:rPr kumimoji="1" lang="en-US" altLang="ja-JP" dirty="0"/>
              <a:t>30%</a:t>
            </a:r>
            <a:r>
              <a:rPr kumimoji="1" lang="ja-JP" altLang="en-US" dirty="0"/>
              <a:t>のインセンティブと発言権を持つことになります。</a:t>
            </a:r>
            <a:endParaRPr kumimoji="1" lang="en-US" altLang="ja-JP" dirty="0"/>
          </a:p>
          <a:p>
            <a:r>
              <a:rPr kumimoji="1" lang="ja-JP" altLang="en-US" dirty="0"/>
              <a:t>株主は事実上株を保有する会社のすべての事業の連券を持っているのと同じになります。</a:t>
            </a:r>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10</a:t>
            </a:fld>
            <a:endParaRPr kumimoji="1" lang="ja-JP" altLang="en-US"/>
          </a:p>
        </p:txBody>
      </p:sp>
    </p:spTree>
    <p:extLst>
      <p:ext uri="{BB962C8B-B14F-4D97-AF65-F5344CB8AC3E}">
        <p14:creationId xmlns:p14="http://schemas.microsoft.com/office/powerpoint/2010/main" val="893255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マンガの原作者がアニメ化プロジェクト連券を保有して配当を受け取るなんてこともできる</a:t>
            </a:r>
            <a:endParaRPr kumimoji="1" lang="en-US" altLang="ja-JP" dirty="0"/>
          </a:p>
          <a:p>
            <a:r>
              <a:rPr kumimoji="1" lang="ja-JP" altLang="en-US"/>
              <a:t>アニメ化や劇場化の際原作者へのインセンティブ不足という問題ももしかしたら解決するかもしれません。</a:t>
            </a:r>
            <a:endParaRPr kumimoji="1" lang="ja-JP" altLang="en-US" dirty="0"/>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11</a:t>
            </a:fld>
            <a:endParaRPr kumimoji="1" lang="ja-JP" altLang="en-US"/>
          </a:p>
        </p:txBody>
      </p:sp>
    </p:spTree>
    <p:extLst>
      <p:ext uri="{BB962C8B-B14F-4D97-AF65-F5344CB8AC3E}">
        <p14:creationId xmlns:p14="http://schemas.microsoft.com/office/powerpoint/2010/main" val="1063687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例えばマンガの出版社に投資する場合アニメ制作に詳しい人はアニメ化事業にだけ絞って投資ができるので従来よりいいパフォーマンスで個別投資ができる。</a:t>
            </a:r>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12</a:t>
            </a:fld>
            <a:endParaRPr kumimoji="1" lang="ja-JP" altLang="en-US"/>
          </a:p>
        </p:txBody>
      </p:sp>
    </p:spTree>
    <p:extLst>
      <p:ext uri="{BB962C8B-B14F-4D97-AF65-F5344CB8AC3E}">
        <p14:creationId xmlns:p14="http://schemas.microsoft.com/office/powerpoint/2010/main" val="1507720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クラウドファンディング感覚の人はいいかもしれないが金融商品としては課題がある</a:t>
            </a:r>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13</a:t>
            </a:fld>
            <a:endParaRPr kumimoji="1" lang="ja-JP" altLang="en-US"/>
          </a:p>
        </p:txBody>
      </p:sp>
    </p:spTree>
    <p:extLst>
      <p:ext uri="{BB962C8B-B14F-4D97-AF65-F5344CB8AC3E}">
        <p14:creationId xmlns:p14="http://schemas.microsoft.com/office/powerpoint/2010/main" val="1279542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株でいうところのインデックス投信に当たる</a:t>
            </a:r>
            <a:br>
              <a:rPr kumimoji="1" lang="en-US" altLang="ja-JP" dirty="0"/>
            </a:br>
            <a:r>
              <a:rPr kumimoji="1" lang="ja-JP" altLang="en-US" dirty="0"/>
              <a:t>会社問わず事業に影響が出るような出来事が厳しい。例えば、コロナウイルス流行などで観光業の集合連券は大打撃をこうむる。しかし一方で事業全体の好調は大きくとらえて利益を出すことができる。例えば、コロナ化でゲーム販売事業の集合連券を持っていればパフォーマンスは好調だろう。</a:t>
            </a:r>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14</a:t>
            </a:fld>
            <a:endParaRPr kumimoji="1" lang="ja-JP" altLang="en-US"/>
          </a:p>
        </p:txBody>
      </p:sp>
    </p:spTree>
    <p:extLst>
      <p:ext uri="{BB962C8B-B14F-4D97-AF65-F5344CB8AC3E}">
        <p14:creationId xmlns:p14="http://schemas.microsoft.com/office/powerpoint/2010/main" val="3534234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連券の組成にあたってプロジェクト単位で分割するにはあまりにもほかの事業との結びつきが強かったりすると機能不全に陥ったり単一の会社</a:t>
            </a:r>
            <a:endParaRPr kumimoji="1" lang="en-US" altLang="ja-JP" dirty="0"/>
          </a:p>
          <a:p>
            <a:r>
              <a:rPr kumimoji="1" lang="ja-JP" altLang="en-US" dirty="0"/>
              <a:t>の事業でも連携が取れなくなったりする可能性があるのでそこは証券会社が責任をもって審査する必要がある。</a:t>
            </a:r>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15</a:t>
            </a:fld>
            <a:endParaRPr kumimoji="1" lang="ja-JP" altLang="en-US"/>
          </a:p>
        </p:txBody>
      </p:sp>
    </p:spTree>
    <p:extLst>
      <p:ext uri="{BB962C8B-B14F-4D97-AF65-F5344CB8AC3E}">
        <p14:creationId xmlns:p14="http://schemas.microsoft.com/office/powerpoint/2010/main" val="3248832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特にアニメ制作のように短期プロジェクトは頻繫に客の保有する商品が入れ替わるので手数料の発生する機会が多い。好きな作品のためなら金を惜しまないという層は確実にいる。</a:t>
            </a:r>
          </a:p>
        </p:txBody>
      </p:sp>
      <p:sp>
        <p:nvSpPr>
          <p:cNvPr id="4" name="スライド番号プレースホルダー 3"/>
          <p:cNvSpPr>
            <a:spLocks noGrp="1"/>
          </p:cNvSpPr>
          <p:nvPr>
            <p:ph type="sldNum" sz="quarter" idx="5"/>
          </p:nvPr>
        </p:nvSpPr>
        <p:spPr/>
        <p:txBody>
          <a:bodyPr/>
          <a:lstStyle/>
          <a:p>
            <a:fld id="{9EFB7F02-2E82-4FAA-A4FB-97314269D186}" type="slidenum">
              <a:rPr kumimoji="1" lang="ja-JP" altLang="en-US" smtClean="0"/>
              <a:t>16</a:t>
            </a:fld>
            <a:endParaRPr kumimoji="1" lang="ja-JP" altLang="en-US"/>
          </a:p>
        </p:txBody>
      </p:sp>
    </p:spTree>
    <p:extLst>
      <p:ext uri="{BB962C8B-B14F-4D97-AF65-F5344CB8AC3E}">
        <p14:creationId xmlns:p14="http://schemas.microsoft.com/office/powerpoint/2010/main" val="337782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298268-7DED-39F1-8179-1FEA84BEF08A}"/>
              </a:ext>
            </a:extLst>
          </p:cNvPr>
          <p:cNvSpPr>
            <a:spLocks noGrp="1"/>
          </p:cNvSpPr>
          <p:nvPr>
            <p:ph type="ctrTitle"/>
          </p:nvPr>
        </p:nvSpPr>
        <p:spPr>
          <a:xfrm>
            <a:off x="685800" y="1074511"/>
            <a:ext cx="7772400" cy="1470025"/>
          </a:xfrm>
        </p:spPr>
        <p:txBody>
          <a:bodyPr/>
          <a:lstStyle/>
          <a:p>
            <a:r>
              <a:rPr lang="ja-JP" altLang="en-US" dirty="0"/>
              <a:t>連権・集合連権 投資商品提案</a:t>
            </a:r>
            <a:endParaRPr kumimoji="1" lang="ja-JP" altLang="en-US" dirty="0"/>
          </a:p>
        </p:txBody>
      </p:sp>
      <p:sp>
        <p:nvSpPr>
          <p:cNvPr id="3" name="字幕 2">
            <a:extLst>
              <a:ext uri="{FF2B5EF4-FFF2-40B4-BE49-F238E27FC236}">
                <a16:creationId xmlns:a16="http://schemas.microsoft.com/office/drawing/2014/main" id="{19282618-EDFA-BF44-FA58-9C7AFFA78C6D}"/>
              </a:ext>
            </a:extLst>
          </p:cNvPr>
          <p:cNvSpPr>
            <a:spLocks noGrp="1"/>
          </p:cNvSpPr>
          <p:nvPr>
            <p:ph type="subTitle" idx="1"/>
          </p:nvPr>
        </p:nvSpPr>
        <p:spPr/>
        <p:txBody>
          <a:bodyPr/>
          <a:lstStyle/>
          <a:p>
            <a:r>
              <a:rPr lang="ja-JP" altLang="en-US" dirty="0"/>
              <a:t>プロジェクト単位投資による</a:t>
            </a:r>
            <a:endParaRPr lang="en-US" altLang="ja-JP" dirty="0"/>
          </a:p>
          <a:p>
            <a:r>
              <a:rPr lang="ja-JP" altLang="en-US" dirty="0"/>
              <a:t>新しい資本市場</a:t>
            </a:r>
          </a:p>
          <a:p>
            <a:r>
              <a:rPr lang="en-US" altLang="ja-JP" dirty="0"/>
              <a:t>— </a:t>
            </a:r>
            <a:r>
              <a:rPr lang="ja-JP" altLang="en-US" dirty="0"/>
              <a:t>証券会社向け提案 </a:t>
            </a:r>
            <a:r>
              <a:rPr lang="en-US" altLang="ja-JP" dirty="0"/>
              <a:t>—</a:t>
            </a:r>
          </a:p>
          <a:p>
            <a:endParaRPr kumimoji="1" lang="ja-JP" altLang="en-US" dirty="0"/>
          </a:p>
        </p:txBody>
      </p:sp>
    </p:spTree>
    <p:extLst>
      <p:ext uri="{BB962C8B-B14F-4D97-AF65-F5344CB8AC3E}">
        <p14:creationId xmlns:p14="http://schemas.microsoft.com/office/powerpoint/2010/main" val="31815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従来の株式投資の課題</a:t>
            </a:r>
          </a:p>
        </p:txBody>
      </p:sp>
      <p:sp>
        <p:nvSpPr>
          <p:cNvPr id="3" name="Content Placeholder 2"/>
          <p:cNvSpPr>
            <a:spLocks noGrp="1"/>
          </p:cNvSpPr>
          <p:nvPr>
            <p:ph idx="1"/>
          </p:nvPr>
        </p:nvSpPr>
        <p:spPr/>
        <p:txBody>
          <a:bodyPr/>
          <a:lstStyle/>
          <a:p>
            <a:r>
              <a:rPr dirty="0" err="1"/>
              <a:t>企業全体に投資</a:t>
            </a:r>
            <a:r>
              <a:rPr dirty="0"/>
              <a:t> → </a:t>
            </a:r>
            <a:r>
              <a:rPr dirty="0" err="1"/>
              <a:t>資金用途が不透明</a:t>
            </a:r>
            <a:endParaRPr dirty="0"/>
          </a:p>
          <a:p>
            <a:r>
              <a:rPr dirty="0" err="1"/>
              <a:t>成功と失敗の事業が混在</a:t>
            </a:r>
            <a:endParaRPr dirty="0"/>
          </a:p>
          <a:p>
            <a:r>
              <a:rPr dirty="0" err="1"/>
              <a:t>新規プロジェクトごとの評価が</a:t>
            </a:r>
            <a:r>
              <a:rPr lang="ja-JP" altLang="en-US" dirty="0"/>
              <a:t>難しい</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新しい考え方：連権</a:t>
            </a:r>
          </a:p>
        </p:txBody>
      </p:sp>
      <p:sp>
        <p:nvSpPr>
          <p:cNvPr id="3" name="Content Placeholder 2"/>
          <p:cNvSpPr>
            <a:spLocks noGrp="1"/>
          </p:cNvSpPr>
          <p:nvPr>
            <p:ph idx="1"/>
          </p:nvPr>
        </p:nvSpPr>
        <p:spPr/>
        <p:txBody>
          <a:bodyPr>
            <a:normAutofit lnSpcReduction="10000"/>
          </a:bodyPr>
          <a:lstStyle/>
          <a:p>
            <a:pPr marL="0" indent="0">
              <a:buNone/>
            </a:pPr>
            <a:r>
              <a:rPr sz="4000" dirty="0" err="1"/>
              <a:t>連権＝特定プロジェクトの収益に連動する権利</a:t>
            </a:r>
            <a:endParaRPr lang="en-US" sz="4000" dirty="0"/>
          </a:p>
          <a:p>
            <a:pPr marL="0" indent="0">
              <a:buNone/>
            </a:pPr>
            <a:endParaRPr sz="4000" dirty="0"/>
          </a:p>
          <a:p>
            <a:r>
              <a:rPr dirty="0" err="1"/>
              <a:t>株式でも債券でもない</a:t>
            </a:r>
            <a:endParaRPr dirty="0"/>
          </a:p>
          <a:p>
            <a:r>
              <a:rPr dirty="0" err="1"/>
              <a:t>プロジェクト単位で投資可能</a:t>
            </a:r>
            <a:endParaRPr lang="en-US" dirty="0"/>
          </a:p>
          <a:p>
            <a:endParaRPr lang="en-US" dirty="0"/>
          </a:p>
          <a:p>
            <a:r>
              <a:rPr lang="ja-JP" altLang="en-US" dirty="0">
                <a:solidFill>
                  <a:srgbClr val="FF0000"/>
                </a:solidFill>
              </a:rPr>
              <a:t>あらかじめ事業終了時の最終買取価格を決めて発行</a:t>
            </a:r>
            <a:endParaRPr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マンガアニメ化の例</a:t>
            </a:r>
          </a:p>
        </p:txBody>
      </p:sp>
      <p:sp>
        <p:nvSpPr>
          <p:cNvPr id="3" name="Content Placeholder 2"/>
          <p:cNvSpPr>
            <a:spLocks noGrp="1"/>
          </p:cNvSpPr>
          <p:nvPr>
            <p:ph idx="1"/>
          </p:nvPr>
        </p:nvSpPr>
        <p:spPr/>
        <p:txBody>
          <a:bodyPr/>
          <a:lstStyle/>
          <a:p>
            <a:pPr marL="0" indent="0">
              <a:buNone/>
            </a:pPr>
            <a:r>
              <a:rPr dirty="0" err="1"/>
              <a:t>例：人気マンガ『X』をアニメ化</a:t>
            </a:r>
            <a:endParaRPr dirty="0"/>
          </a:p>
          <a:p>
            <a:r>
              <a:rPr dirty="0" err="1"/>
              <a:t>制作費：</a:t>
            </a:r>
            <a:r>
              <a:rPr lang="en-US" dirty="0" err="1"/>
              <a:t>A</a:t>
            </a:r>
            <a:r>
              <a:rPr dirty="0" err="1"/>
              <a:t>円</a:t>
            </a:r>
            <a:endParaRPr dirty="0"/>
          </a:p>
          <a:p>
            <a:r>
              <a:rPr dirty="0" err="1"/>
              <a:t>放映権・配信・グッズ収益に連動</a:t>
            </a:r>
            <a:endParaRPr lang="en-US" dirty="0"/>
          </a:p>
          <a:p>
            <a:endParaRPr lang="en-US" dirty="0"/>
          </a:p>
          <a:p>
            <a:r>
              <a:rPr lang="ja-JP" altLang="en-US" dirty="0"/>
              <a:t>最終買取価格</a:t>
            </a:r>
            <a:r>
              <a:rPr lang="en-US" altLang="ja-JP" dirty="0"/>
              <a:t>E</a:t>
            </a:r>
            <a:r>
              <a:rPr lang="ja-JP" altLang="en-US" dirty="0"/>
              <a:t>円</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2EE6933-A7BC-F99E-E781-4790BB07F261}"/>
              </a:ext>
            </a:extLst>
          </p:cNvPr>
          <p:cNvSpPr/>
          <p:nvPr/>
        </p:nvSpPr>
        <p:spPr>
          <a:xfrm>
            <a:off x="5559879" y="2257425"/>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96C7FAE-1559-634D-E85F-F72D24561950}"/>
              </a:ext>
            </a:extLst>
          </p:cNvPr>
          <p:cNvSpPr>
            <a:spLocks noGrp="1"/>
          </p:cNvSpPr>
          <p:nvPr>
            <p:ph type="title"/>
          </p:nvPr>
        </p:nvSpPr>
        <p:spPr/>
        <p:txBody>
          <a:bodyPr/>
          <a:lstStyle/>
          <a:p>
            <a:r>
              <a:rPr kumimoji="1" lang="ja-JP" altLang="en-US" dirty="0"/>
              <a:t>連券発行時</a:t>
            </a:r>
          </a:p>
        </p:txBody>
      </p:sp>
      <p:sp>
        <p:nvSpPr>
          <p:cNvPr id="4" name="正方形/長方形 3">
            <a:extLst>
              <a:ext uri="{FF2B5EF4-FFF2-40B4-BE49-F238E27FC236}">
                <a16:creationId xmlns:a16="http://schemas.microsoft.com/office/drawing/2014/main" id="{0AA894B7-3782-CE7E-8FC8-446392355166}"/>
              </a:ext>
            </a:extLst>
          </p:cNvPr>
          <p:cNvSpPr/>
          <p:nvPr/>
        </p:nvSpPr>
        <p:spPr>
          <a:xfrm>
            <a:off x="1085850" y="2257425"/>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7F03BEC-4A46-A861-E228-BBB554C1C165}"/>
              </a:ext>
            </a:extLst>
          </p:cNvPr>
          <p:cNvSpPr txBox="1"/>
          <p:nvPr/>
        </p:nvSpPr>
        <p:spPr>
          <a:xfrm>
            <a:off x="1428750" y="2324378"/>
            <a:ext cx="1524000" cy="369332"/>
          </a:xfrm>
          <a:prstGeom prst="rect">
            <a:avLst/>
          </a:prstGeom>
          <a:noFill/>
        </p:spPr>
        <p:txBody>
          <a:bodyPr wrap="square" rtlCol="0">
            <a:spAutoFit/>
          </a:bodyPr>
          <a:lstStyle/>
          <a:p>
            <a:r>
              <a:rPr kumimoji="1" lang="en-US" altLang="ja-JP" dirty="0"/>
              <a:t>X</a:t>
            </a:r>
            <a:r>
              <a:rPr kumimoji="1" lang="ja-JP" altLang="en-US" dirty="0"/>
              <a:t>制作委員会</a:t>
            </a:r>
          </a:p>
        </p:txBody>
      </p:sp>
      <p:sp>
        <p:nvSpPr>
          <p:cNvPr id="7" name="テキスト ボックス 6">
            <a:extLst>
              <a:ext uri="{FF2B5EF4-FFF2-40B4-BE49-F238E27FC236}">
                <a16:creationId xmlns:a16="http://schemas.microsoft.com/office/drawing/2014/main" id="{D9508AA8-AF36-0381-4E6D-9C0D61AD6346}"/>
              </a:ext>
            </a:extLst>
          </p:cNvPr>
          <p:cNvSpPr txBox="1"/>
          <p:nvPr/>
        </p:nvSpPr>
        <p:spPr>
          <a:xfrm>
            <a:off x="6096000" y="2319350"/>
            <a:ext cx="1524000" cy="369332"/>
          </a:xfrm>
          <a:prstGeom prst="rect">
            <a:avLst/>
          </a:prstGeom>
          <a:noFill/>
        </p:spPr>
        <p:txBody>
          <a:bodyPr wrap="square" rtlCol="0">
            <a:spAutoFit/>
          </a:bodyPr>
          <a:lstStyle/>
          <a:p>
            <a:r>
              <a:rPr kumimoji="1" lang="ja-JP" altLang="en-US" dirty="0"/>
              <a:t>証券会社</a:t>
            </a:r>
          </a:p>
        </p:txBody>
      </p:sp>
      <p:sp>
        <p:nvSpPr>
          <p:cNvPr id="9" name="正方形/長方形 8">
            <a:extLst>
              <a:ext uri="{FF2B5EF4-FFF2-40B4-BE49-F238E27FC236}">
                <a16:creationId xmlns:a16="http://schemas.microsoft.com/office/drawing/2014/main" id="{8476BC62-3AA2-50E5-6497-836A79E6AF0B}"/>
              </a:ext>
            </a:extLst>
          </p:cNvPr>
          <p:cNvSpPr/>
          <p:nvPr/>
        </p:nvSpPr>
        <p:spPr>
          <a:xfrm>
            <a:off x="1085850" y="4521653"/>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EE0A4ABD-A15C-BC4F-0FB6-2153F7A6076C}"/>
              </a:ext>
            </a:extLst>
          </p:cNvPr>
          <p:cNvSpPr txBox="1"/>
          <p:nvPr/>
        </p:nvSpPr>
        <p:spPr>
          <a:xfrm>
            <a:off x="1404257" y="4647598"/>
            <a:ext cx="1763486" cy="369332"/>
          </a:xfrm>
          <a:prstGeom prst="rect">
            <a:avLst/>
          </a:prstGeom>
          <a:noFill/>
        </p:spPr>
        <p:txBody>
          <a:bodyPr wrap="square" rtlCol="0">
            <a:spAutoFit/>
          </a:bodyPr>
          <a:lstStyle/>
          <a:p>
            <a:r>
              <a:rPr kumimoji="1" lang="ja-JP" altLang="en-US" dirty="0"/>
              <a:t>スポンサー企業</a:t>
            </a:r>
          </a:p>
        </p:txBody>
      </p:sp>
      <p:sp>
        <p:nvSpPr>
          <p:cNvPr id="12" name="正方形/長方形 11">
            <a:extLst>
              <a:ext uri="{FF2B5EF4-FFF2-40B4-BE49-F238E27FC236}">
                <a16:creationId xmlns:a16="http://schemas.microsoft.com/office/drawing/2014/main" id="{ED62974A-928A-56A4-0738-4365C776EE00}"/>
              </a:ext>
            </a:extLst>
          </p:cNvPr>
          <p:cNvSpPr/>
          <p:nvPr/>
        </p:nvSpPr>
        <p:spPr>
          <a:xfrm>
            <a:off x="5529943" y="4521653"/>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ADD2529-943A-2172-C86D-6FCFBCA5BBA2}"/>
              </a:ext>
            </a:extLst>
          </p:cNvPr>
          <p:cNvSpPr txBox="1"/>
          <p:nvPr/>
        </p:nvSpPr>
        <p:spPr>
          <a:xfrm>
            <a:off x="5984421" y="4654828"/>
            <a:ext cx="1360715" cy="369332"/>
          </a:xfrm>
          <a:prstGeom prst="rect">
            <a:avLst/>
          </a:prstGeom>
          <a:noFill/>
        </p:spPr>
        <p:txBody>
          <a:bodyPr wrap="square" rtlCol="0">
            <a:spAutoFit/>
          </a:bodyPr>
          <a:lstStyle/>
          <a:p>
            <a:r>
              <a:rPr kumimoji="1" lang="ja-JP" altLang="en-US" dirty="0"/>
              <a:t>個人連券主</a:t>
            </a:r>
          </a:p>
        </p:txBody>
      </p:sp>
      <p:cxnSp>
        <p:nvCxnSpPr>
          <p:cNvPr id="15" name="直線矢印コネクタ 14">
            <a:extLst>
              <a:ext uri="{FF2B5EF4-FFF2-40B4-BE49-F238E27FC236}">
                <a16:creationId xmlns:a16="http://schemas.microsoft.com/office/drawing/2014/main" id="{6FD83957-CDA9-C643-176B-CF96A61916FA}"/>
              </a:ext>
            </a:extLst>
          </p:cNvPr>
          <p:cNvCxnSpPr/>
          <p:nvPr/>
        </p:nvCxnSpPr>
        <p:spPr>
          <a:xfrm>
            <a:off x="3449410" y="2688593"/>
            <a:ext cx="1752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テキスト ボックス 15">
            <a:extLst>
              <a:ext uri="{FF2B5EF4-FFF2-40B4-BE49-F238E27FC236}">
                <a16:creationId xmlns:a16="http://schemas.microsoft.com/office/drawing/2014/main" id="{051043FA-1F4F-8AC4-CC68-EB7C85E39CAE}"/>
              </a:ext>
            </a:extLst>
          </p:cNvPr>
          <p:cNvSpPr txBox="1"/>
          <p:nvPr/>
        </p:nvSpPr>
        <p:spPr>
          <a:xfrm>
            <a:off x="3653518" y="1996184"/>
            <a:ext cx="1548492" cy="646331"/>
          </a:xfrm>
          <a:prstGeom prst="rect">
            <a:avLst/>
          </a:prstGeom>
          <a:noFill/>
        </p:spPr>
        <p:txBody>
          <a:bodyPr wrap="square" rtlCol="0">
            <a:spAutoFit/>
          </a:bodyPr>
          <a:lstStyle/>
          <a:p>
            <a:r>
              <a:rPr kumimoji="1" lang="en-US" altLang="ja-JP" dirty="0"/>
              <a:t>A</a:t>
            </a:r>
            <a:r>
              <a:rPr kumimoji="1" lang="ja-JP" altLang="en-US" dirty="0"/>
              <a:t>円分の連券の発行を依頼</a:t>
            </a:r>
          </a:p>
        </p:txBody>
      </p:sp>
      <p:cxnSp>
        <p:nvCxnSpPr>
          <p:cNvPr id="18" name="直線矢印コネクタ 17">
            <a:extLst>
              <a:ext uri="{FF2B5EF4-FFF2-40B4-BE49-F238E27FC236}">
                <a16:creationId xmlns:a16="http://schemas.microsoft.com/office/drawing/2014/main" id="{D502028B-9CBB-B915-9A37-198DA74DA8B3}"/>
              </a:ext>
            </a:extLst>
          </p:cNvPr>
          <p:cNvCxnSpPr/>
          <p:nvPr/>
        </p:nvCxnSpPr>
        <p:spPr>
          <a:xfrm flipH="1">
            <a:off x="3449410" y="3646714"/>
            <a:ext cx="1960790" cy="8749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21196460-8CDB-B24F-D067-97853DD49539}"/>
              </a:ext>
            </a:extLst>
          </p:cNvPr>
          <p:cNvCxnSpPr>
            <a:cxnSpLocks/>
          </p:cNvCxnSpPr>
          <p:nvPr/>
        </p:nvCxnSpPr>
        <p:spPr>
          <a:xfrm>
            <a:off x="6672942" y="3713301"/>
            <a:ext cx="0" cy="6793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D257E98E-0775-C2B7-F1BF-52CAF82EC11A}"/>
              </a:ext>
            </a:extLst>
          </p:cNvPr>
          <p:cNvSpPr txBox="1"/>
          <p:nvPr/>
        </p:nvSpPr>
        <p:spPr>
          <a:xfrm>
            <a:off x="6858000" y="3729790"/>
            <a:ext cx="1360713" cy="646331"/>
          </a:xfrm>
          <a:prstGeom prst="rect">
            <a:avLst/>
          </a:prstGeom>
          <a:noFill/>
        </p:spPr>
        <p:txBody>
          <a:bodyPr wrap="square" rtlCol="0">
            <a:spAutoFit/>
          </a:bodyPr>
          <a:lstStyle/>
          <a:p>
            <a:r>
              <a:rPr kumimoji="1" lang="en-US" altLang="ja-JP" dirty="0" err="1"/>
              <a:t>C+r</a:t>
            </a:r>
            <a:r>
              <a:rPr kumimoji="1" lang="ja-JP" altLang="en-US" dirty="0"/>
              <a:t>円分の連券を販売</a:t>
            </a:r>
          </a:p>
        </p:txBody>
      </p:sp>
      <p:sp>
        <p:nvSpPr>
          <p:cNvPr id="22" name="テキスト ボックス 21">
            <a:extLst>
              <a:ext uri="{FF2B5EF4-FFF2-40B4-BE49-F238E27FC236}">
                <a16:creationId xmlns:a16="http://schemas.microsoft.com/office/drawing/2014/main" id="{2D46B64A-5D97-F3E4-12E2-EEE1AA763450}"/>
              </a:ext>
            </a:extLst>
          </p:cNvPr>
          <p:cNvSpPr txBox="1"/>
          <p:nvPr/>
        </p:nvSpPr>
        <p:spPr>
          <a:xfrm>
            <a:off x="3449410" y="3323548"/>
            <a:ext cx="1360713" cy="646331"/>
          </a:xfrm>
          <a:prstGeom prst="rect">
            <a:avLst/>
          </a:prstGeom>
          <a:noFill/>
        </p:spPr>
        <p:txBody>
          <a:bodyPr wrap="square" rtlCol="0">
            <a:spAutoFit/>
          </a:bodyPr>
          <a:lstStyle/>
          <a:p>
            <a:r>
              <a:rPr kumimoji="1" lang="en-US" altLang="ja-JP" dirty="0" err="1"/>
              <a:t>B+r</a:t>
            </a:r>
            <a:r>
              <a:rPr kumimoji="1" lang="ja-JP" altLang="en-US" dirty="0"/>
              <a:t>円分の連券を販売</a:t>
            </a:r>
          </a:p>
        </p:txBody>
      </p:sp>
      <p:sp>
        <p:nvSpPr>
          <p:cNvPr id="23" name="テキスト ボックス 22">
            <a:extLst>
              <a:ext uri="{FF2B5EF4-FFF2-40B4-BE49-F238E27FC236}">
                <a16:creationId xmlns:a16="http://schemas.microsoft.com/office/drawing/2014/main" id="{9EE04925-E9D8-BAA6-0BF6-B1A2DFE4FED4}"/>
              </a:ext>
            </a:extLst>
          </p:cNvPr>
          <p:cNvSpPr txBox="1"/>
          <p:nvPr/>
        </p:nvSpPr>
        <p:spPr>
          <a:xfrm>
            <a:off x="457200" y="5962585"/>
            <a:ext cx="7413171" cy="646331"/>
          </a:xfrm>
          <a:prstGeom prst="rect">
            <a:avLst/>
          </a:prstGeom>
          <a:noFill/>
        </p:spPr>
        <p:txBody>
          <a:bodyPr wrap="square" rtlCol="0">
            <a:spAutoFit/>
          </a:bodyPr>
          <a:lstStyle/>
          <a:p>
            <a:r>
              <a:rPr kumimoji="1" lang="en-US" altLang="ja-JP" dirty="0"/>
              <a:t>A:</a:t>
            </a:r>
            <a:r>
              <a:rPr kumimoji="1" lang="ja-JP" altLang="en-US" dirty="0"/>
              <a:t>連券全体の金額  </a:t>
            </a:r>
            <a:r>
              <a:rPr kumimoji="1" lang="en-US" altLang="ja-JP" dirty="0"/>
              <a:t>B:</a:t>
            </a:r>
            <a:r>
              <a:rPr kumimoji="1" lang="ja-JP" altLang="en-US" dirty="0"/>
              <a:t>スポンサー企業への連券の販売額</a:t>
            </a:r>
            <a:endParaRPr kumimoji="1" lang="en-US" altLang="ja-JP" dirty="0"/>
          </a:p>
          <a:p>
            <a:r>
              <a:rPr kumimoji="1" lang="en-US" altLang="ja-JP" dirty="0"/>
              <a:t>C:</a:t>
            </a:r>
            <a:r>
              <a:rPr kumimoji="1" lang="ja-JP" altLang="en-US" dirty="0"/>
              <a:t>個人への連券の販売額  </a:t>
            </a:r>
            <a:r>
              <a:rPr kumimoji="1" lang="en-US" altLang="ja-JP" dirty="0"/>
              <a:t>r:</a:t>
            </a:r>
            <a:r>
              <a:rPr kumimoji="1" lang="ja-JP" altLang="en-US" dirty="0"/>
              <a:t>証券会社の手数料　</a:t>
            </a:r>
            <a:r>
              <a:rPr kumimoji="1" lang="en-US" altLang="ja-JP" dirty="0"/>
              <a:t>A=B+C</a:t>
            </a:r>
            <a:endParaRPr kumimoji="1" lang="ja-JP" altLang="en-US" dirty="0"/>
          </a:p>
        </p:txBody>
      </p:sp>
      <p:cxnSp>
        <p:nvCxnSpPr>
          <p:cNvPr id="3" name="直線矢印コネクタ 2">
            <a:extLst>
              <a:ext uri="{FF2B5EF4-FFF2-40B4-BE49-F238E27FC236}">
                <a16:creationId xmlns:a16="http://schemas.microsoft.com/office/drawing/2014/main" id="{24D89924-5AEA-DEE4-0229-5737045B079C}"/>
              </a:ext>
            </a:extLst>
          </p:cNvPr>
          <p:cNvCxnSpPr>
            <a:cxnSpLocks/>
          </p:cNvCxnSpPr>
          <p:nvPr/>
        </p:nvCxnSpPr>
        <p:spPr>
          <a:xfrm flipH="1" flipV="1">
            <a:off x="407096" y="1464724"/>
            <a:ext cx="1698172" cy="291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3F116B3F-F046-C6E3-B01A-542E8ADED693}"/>
              </a:ext>
            </a:extLst>
          </p:cNvPr>
          <p:cNvCxnSpPr>
            <a:cxnSpLocks/>
          </p:cNvCxnSpPr>
          <p:nvPr/>
        </p:nvCxnSpPr>
        <p:spPr>
          <a:xfrm flipV="1">
            <a:off x="407096" y="1867259"/>
            <a:ext cx="1588718" cy="7213"/>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10" name="テキスト ボックス 9">
            <a:extLst>
              <a:ext uri="{FF2B5EF4-FFF2-40B4-BE49-F238E27FC236}">
                <a16:creationId xmlns:a16="http://schemas.microsoft.com/office/drawing/2014/main" id="{65B74A2D-4B3B-A02E-940E-A2CC9635ED60}"/>
              </a:ext>
            </a:extLst>
          </p:cNvPr>
          <p:cNvSpPr txBox="1"/>
          <p:nvPr/>
        </p:nvSpPr>
        <p:spPr>
          <a:xfrm>
            <a:off x="2135613" y="1293707"/>
            <a:ext cx="1698171" cy="646331"/>
          </a:xfrm>
          <a:prstGeom prst="rect">
            <a:avLst/>
          </a:prstGeom>
          <a:noFill/>
        </p:spPr>
        <p:txBody>
          <a:bodyPr wrap="square" rtlCol="0">
            <a:spAutoFit/>
          </a:bodyPr>
          <a:lstStyle/>
          <a:p>
            <a:r>
              <a:rPr kumimoji="1" lang="ja-JP" altLang="en-US" dirty="0"/>
              <a:t>金の流れ</a:t>
            </a:r>
            <a:endParaRPr kumimoji="1" lang="en-US" altLang="ja-JP" dirty="0"/>
          </a:p>
          <a:p>
            <a:r>
              <a:rPr kumimoji="1" lang="ja-JP" altLang="en-US" dirty="0"/>
              <a:t>連券の流れ</a:t>
            </a:r>
          </a:p>
        </p:txBody>
      </p:sp>
      <p:sp>
        <p:nvSpPr>
          <p:cNvPr id="14" name="正方形/長方形 13">
            <a:extLst>
              <a:ext uri="{FF2B5EF4-FFF2-40B4-BE49-F238E27FC236}">
                <a16:creationId xmlns:a16="http://schemas.microsoft.com/office/drawing/2014/main" id="{9F6DB7BC-A4CD-D129-4E25-CB5511745771}"/>
              </a:ext>
            </a:extLst>
          </p:cNvPr>
          <p:cNvSpPr/>
          <p:nvPr/>
        </p:nvSpPr>
        <p:spPr>
          <a:xfrm>
            <a:off x="938463" y="4392612"/>
            <a:ext cx="7119673" cy="1569973"/>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4CF86494-3A08-9CB3-B092-C8A27DCD2A30}"/>
              </a:ext>
            </a:extLst>
          </p:cNvPr>
          <p:cNvSpPr txBox="1"/>
          <p:nvPr/>
        </p:nvSpPr>
        <p:spPr>
          <a:xfrm>
            <a:off x="3718833" y="4502021"/>
            <a:ext cx="1548492" cy="646331"/>
          </a:xfrm>
          <a:prstGeom prst="rect">
            <a:avLst/>
          </a:prstGeom>
          <a:noFill/>
        </p:spPr>
        <p:txBody>
          <a:bodyPr wrap="square" rtlCol="0">
            <a:spAutoFit/>
          </a:bodyPr>
          <a:lstStyle/>
          <a:p>
            <a:pPr algn="ctr"/>
            <a:r>
              <a:rPr kumimoji="1" lang="ja-JP" altLang="en-US" dirty="0"/>
              <a:t>連券保有者（連権者）</a:t>
            </a:r>
          </a:p>
        </p:txBody>
      </p:sp>
    </p:spTree>
    <p:extLst>
      <p:ext uri="{BB962C8B-B14F-4D97-AF65-F5344CB8AC3E}">
        <p14:creationId xmlns:p14="http://schemas.microsoft.com/office/powerpoint/2010/main" val="1140522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5" grpId="0"/>
      <p:bldP spid="7" grpId="0"/>
      <p:bldP spid="9" grpId="0" animBg="1"/>
      <p:bldP spid="11" grpId="0"/>
      <p:bldP spid="12" grpId="0" animBg="1"/>
      <p:bldP spid="13" grpId="0"/>
      <p:bldP spid="16" grpId="0"/>
      <p:bldP spid="21" grpId="0"/>
      <p:bldP spid="22" grpId="0"/>
      <p:bldP spid="14" grpId="0" animBg="1"/>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2EE6933-A7BC-F99E-E781-4790BB07F261}"/>
              </a:ext>
            </a:extLst>
          </p:cNvPr>
          <p:cNvSpPr/>
          <p:nvPr/>
        </p:nvSpPr>
        <p:spPr>
          <a:xfrm>
            <a:off x="5559879" y="2257425"/>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96C7FAE-1559-634D-E85F-F72D24561950}"/>
              </a:ext>
            </a:extLst>
          </p:cNvPr>
          <p:cNvSpPr>
            <a:spLocks noGrp="1"/>
          </p:cNvSpPr>
          <p:nvPr>
            <p:ph type="title"/>
          </p:nvPr>
        </p:nvSpPr>
        <p:spPr/>
        <p:txBody>
          <a:bodyPr/>
          <a:lstStyle/>
          <a:p>
            <a:r>
              <a:rPr kumimoji="1" lang="ja-JP" altLang="en-US" dirty="0"/>
              <a:t>連券発行時</a:t>
            </a:r>
          </a:p>
        </p:txBody>
      </p:sp>
      <p:sp>
        <p:nvSpPr>
          <p:cNvPr id="4" name="正方形/長方形 3">
            <a:extLst>
              <a:ext uri="{FF2B5EF4-FFF2-40B4-BE49-F238E27FC236}">
                <a16:creationId xmlns:a16="http://schemas.microsoft.com/office/drawing/2014/main" id="{0AA894B7-3782-CE7E-8FC8-446392355166}"/>
              </a:ext>
            </a:extLst>
          </p:cNvPr>
          <p:cNvSpPr/>
          <p:nvPr/>
        </p:nvSpPr>
        <p:spPr>
          <a:xfrm>
            <a:off x="1085850" y="2257425"/>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D9508AA8-AF36-0381-4E6D-9C0D61AD6346}"/>
              </a:ext>
            </a:extLst>
          </p:cNvPr>
          <p:cNvSpPr txBox="1"/>
          <p:nvPr/>
        </p:nvSpPr>
        <p:spPr>
          <a:xfrm>
            <a:off x="6055178" y="2364953"/>
            <a:ext cx="1219200" cy="369332"/>
          </a:xfrm>
          <a:prstGeom prst="rect">
            <a:avLst/>
          </a:prstGeom>
          <a:noFill/>
        </p:spPr>
        <p:txBody>
          <a:bodyPr wrap="square" rtlCol="0">
            <a:spAutoFit/>
          </a:bodyPr>
          <a:lstStyle/>
          <a:p>
            <a:pPr algn="ctr"/>
            <a:r>
              <a:rPr kumimoji="1" lang="ja-JP" altLang="en-US" dirty="0"/>
              <a:t>証券会社</a:t>
            </a:r>
          </a:p>
        </p:txBody>
      </p:sp>
      <p:sp>
        <p:nvSpPr>
          <p:cNvPr id="9" name="正方形/長方形 8">
            <a:extLst>
              <a:ext uri="{FF2B5EF4-FFF2-40B4-BE49-F238E27FC236}">
                <a16:creationId xmlns:a16="http://schemas.microsoft.com/office/drawing/2014/main" id="{8476BC62-3AA2-50E5-6497-836A79E6AF0B}"/>
              </a:ext>
            </a:extLst>
          </p:cNvPr>
          <p:cNvSpPr/>
          <p:nvPr/>
        </p:nvSpPr>
        <p:spPr>
          <a:xfrm>
            <a:off x="1085850" y="4521653"/>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EE0A4ABD-A15C-BC4F-0FB6-2153F7A6076C}"/>
              </a:ext>
            </a:extLst>
          </p:cNvPr>
          <p:cNvSpPr txBox="1"/>
          <p:nvPr/>
        </p:nvSpPr>
        <p:spPr>
          <a:xfrm>
            <a:off x="1309007" y="4668331"/>
            <a:ext cx="1763486" cy="369332"/>
          </a:xfrm>
          <a:prstGeom prst="rect">
            <a:avLst/>
          </a:prstGeom>
          <a:noFill/>
        </p:spPr>
        <p:txBody>
          <a:bodyPr wrap="square" rtlCol="0">
            <a:spAutoFit/>
          </a:bodyPr>
          <a:lstStyle/>
          <a:p>
            <a:pPr algn="ctr"/>
            <a:r>
              <a:rPr kumimoji="1" lang="ja-JP" altLang="en-US" dirty="0"/>
              <a:t>スポンサー企業</a:t>
            </a:r>
          </a:p>
        </p:txBody>
      </p:sp>
      <p:sp>
        <p:nvSpPr>
          <p:cNvPr id="12" name="正方形/長方形 11">
            <a:extLst>
              <a:ext uri="{FF2B5EF4-FFF2-40B4-BE49-F238E27FC236}">
                <a16:creationId xmlns:a16="http://schemas.microsoft.com/office/drawing/2014/main" id="{ED62974A-928A-56A4-0738-4365C776EE00}"/>
              </a:ext>
            </a:extLst>
          </p:cNvPr>
          <p:cNvSpPr/>
          <p:nvPr/>
        </p:nvSpPr>
        <p:spPr>
          <a:xfrm>
            <a:off x="5529943" y="4521653"/>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ADD2529-943A-2172-C86D-6FCFBCA5BBA2}"/>
              </a:ext>
            </a:extLst>
          </p:cNvPr>
          <p:cNvSpPr txBox="1"/>
          <p:nvPr/>
        </p:nvSpPr>
        <p:spPr>
          <a:xfrm>
            <a:off x="5954485" y="4672365"/>
            <a:ext cx="1360715" cy="369332"/>
          </a:xfrm>
          <a:prstGeom prst="rect">
            <a:avLst/>
          </a:prstGeom>
          <a:noFill/>
        </p:spPr>
        <p:txBody>
          <a:bodyPr wrap="square" rtlCol="0">
            <a:spAutoFit/>
          </a:bodyPr>
          <a:lstStyle/>
          <a:p>
            <a:pPr algn="ctr"/>
            <a:r>
              <a:rPr kumimoji="1" lang="ja-JP" altLang="en-US" dirty="0"/>
              <a:t>個人連券主</a:t>
            </a:r>
          </a:p>
        </p:txBody>
      </p:sp>
      <p:cxnSp>
        <p:nvCxnSpPr>
          <p:cNvPr id="15" name="直線矢印コネクタ 14">
            <a:extLst>
              <a:ext uri="{FF2B5EF4-FFF2-40B4-BE49-F238E27FC236}">
                <a16:creationId xmlns:a16="http://schemas.microsoft.com/office/drawing/2014/main" id="{6FD83957-CDA9-C643-176B-CF96A61916FA}"/>
              </a:ext>
            </a:extLst>
          </p:cNvPr>
          <p:cNvCxnSpPr>
            <a:cxnSpLocks/>
          </p:cNvCxnSpPr>
          <p:nvPr/>
        </p:nvCxnSpPr>
        <p:spPr>
          <a:xfrm flipH="1" flipV="1">
            <a:off x="3614057" y="2863386"/>
            <a:ext cx="1698172" cy="291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テキスト ボックス 15">
            <a:extLst>
              <a:ext uri="{FF2B5EF4-FFF2-40B4-BE49-F238E27FC236}">
                <a16:creationId xmlns:a16="http://schemas.microsoft.com/office/drawing/2014/main" id="{051043FA-1F4F-8AC4-CC68-EB7C85E39CAE}"/>
              </a:ext>
            </a:extLst>
          </p:cNvPr>
          <p:cNvSpPr txBox="1"/>
          <p:nvPr/>
        </p:nvSpPr>
        <p:spPr>
          <a:xfrm>
            <a:off x="3676650" y="2276875"/>
            <a:ext cx="1698171" cy="369332"/>
          </a:xfrm>
          <a:prstGeom prst="rect">
            <a:avLst/>
          </a:prstGeom>
          <a:noFill/>
        </p:spPr>
        <p:txBody>
          <a:bodyPr wrap="square" rtlCol="0">
            <a:spAutoFit/>
          </a:bodyPr>
          <a:lstStyle/>
          <a:p>
            <a:r>
              <a:rPr kumimoji="1" lang="en-US" altLang="ja-JP" dirty="0"/>
              <a:t>A</a:t>
            </a:r>
            <a:r>
              <a:rPr kumimoji="1" lang="ja-JP" altLang="en-US" dirty="0"/>
              <a:t>円分の支払い</a:t>
            </a:r>
          </a:p>
        </p:txBody>
      </p:sp>
      <p:cxnSp>
        <p:nvCxnSpPr>
          <p:cNvPr id="18" name="直線矢印コネクタ 17">
            <a:extLst>
              <a:ext uri="{FF2B5EF4-FFF2-40B4-BE49-F238E27FC236}">
                <a16:creationId xmlns:a16="http://schemas.microsoft.com/office/drawing/2014/main" id="{D502028B-9CBB-B915-9A37-198DA74DA8B3}"/>
              </a:ext>
            </a:extLst>
          </p:cNvPr>
          <p:cNvCxnSpPr>
            <a:cxnSpLocks/>
          </p:cNvCxnSpPr>
          <p:nvPr/>
        </p:nvCxnSpPr>
        <p:spPr>
          <a:xfrm flipV="1">
            <a:off x="3614057" y="3627641"/>
            <a:ext cx="1823358" cy="88628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21196460-8CDB-B24F-D067-97853DD49539}"/>
              </a:ext>
            </a:extLst>
          </p:cNvPr>
          <p:cNvCxnSpPr>
            <a:cxnSpLocks/>
          </p:cNvCxnSpPr>
          <p:nvPr/>
        </p:nvCxnSpPr>
        <p:spPr>
          <a:xfrm flipV="1">
            <a:off x="6664778" y="3790553"/>
            <a:ext cx="0" cy="57759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D257E98E-0775-C2B7-F1BF-52CAF82EC11A}"/>
              </a:ext>
            </a:extLst>
          </p:cNvPr>
          <p:cNvSpPr txBox="1"/>
          <p:nvPr/>
        </p:nvSpPr>
        <p:spPr>
          <a:xfrm>
            <a:off x="6858000" y="3778189"/>
            <a:ext cx="1828800" cy="369332"/>
          </a:xfrm>
          <a:prstGeom prst="rect">
            <a:avLst/>
          </a:prstGeom>
          <a:noFill/>
        </p:spPr>
        <p:txBody>
          <a:bodyPr wrap="square" rtlCol="0">
            <a:spAutoFit/>
          </a:bodyPr>
          <a:lstStyle/>
          <a:p>
            <a:r>
              <a:rPr kumimoji="1" lang="en-US" altLang="ja-JP" dirty="0" err="1"/>
              <a:t>C+r</a:t>
            </a:r>
            <a:r>
              <a:rPr kumimoji="1" lang="ja-JP" altLang="en-US" dirty="0"/>
              <a:t>円の支払い</a:t>
            </a:r>
          </a:p>
        </p:txBody>
      </p:sp>
      <p:sp>
        <p:nvSpPr>
          <p:cNvPr id="22" name="テキスト ボックス 21">
            <a:extLst>
              <a:ext uri="{FF2B5EF4-FFF2-40B4-BE49-F238E27FC236}">
                <a16:creationId xmlns:a16="http://schemas.microsoft.com/office/drawing/2014/main" id="{2D46B64A-5D97-F3E4-12E2-EEE1AA763450}"/>
              </a:ext>
            </a:extLst>
          </p:cNvPr>
          <p:cNvSpPr txBox="1"/>
          <p:nvPr/>
        </p:nvSpPr>
        <p:spPr>
          <a:xfrm>
            <a:off x="3429000" y="3505445"/>
            <a:ext cx="1823358" cy="369332"/>
          </a:xfrm>
          <a:prstGeom prst="rect">
            <a:avLst/>
          </a:prstGeom>
          <a:noFill/>
        </p:spPr>
        <p:txBody>
          <a:bodyPr wrap="square" rtlCol="0">
            <a:spAutoFit/>
          </a:bodyPr>
          <a:lstStyle/>
          <a:p>
            <a:r>
              <a:rPr kumimoji="1" lang="en-US" altLang="ja-JP" dirty="0" err="1"/>
              <a:t>B+r</a:t>
            </a:r>
            <a:r>
              <a:rPr kumimoji="1" lang="ja-JP" altLang="en-US" dirty="0"/>
              <a:t>円の支払い</a:t>
            </a:r>
          </a:p>
        </p:txBody>
      </p:sp>
      <p:sp>
        <p:nvSpPr>
          <p:cNvPr id="23" name="テキスト ボックス 22">
            <a:extLst>
              <a:ext uri="{FF2B5EF4-FFF2-40B4-BE49-F238E27FC236}">
                <a16:creationId xmlns:a16="http://schemas.microsoft.com/office/drawing/2014/main" id="{9EE04925-E9D8-BAA6-0BF6-B1A2DFE4FED4}"/>
              </a:ext>
            </a:extLst>
          </p:cNvPr>
          <p:cNvSpPr txBox="1"/>
          <p:nvPr/>
        </p:nvSpPr>
        <p:spPr>
          <a:xfrm>
            <a:off x="457200" y="5962585"/>
            <a:ext cx="7413171" cy="646331"/>
          </a:xfrm>
          <a:prstGeom prst="rect">
            <a:avLst/>
          </a:prstGeom>
          <a:noFill/>
        </p:spPr>
        <p:txBody>
          <a:bodyPr wrap="square" rtlCol="0">
            <a:spAutoFit/>
          </a:bodyPr>
          <a:lstStyle/>
          <a:p>
            <a:r>
              <a:rPr kumimoji="1" lang="en-US" altLang="ja-JP" dirty="0"/>
              <a:t>A:</a:t>
            </a:r>
            <a:r>
              <a:rPr kumimoji="1" lang="ja-JP" altLang="en-US" dirty="0"/>
              <a:t>連券全体の金額  </a:t>
            </a:r>
            <a:r>
              <a:rPr kumimoji="1" lang="en-US" altLang="ja-JP" dirty="0"/>
              <a:t>B:</a:t>
            </a:r>
            <a:r>
              <a:rPr kumimoji="1" lang="ja-JP" altLang="en-US" dirty="0"/>
              <a:t>スポンサー企業への連券の販売額</a:t>
            </a:r>
            <a:endParaRPr kumimoji="1" lang="en-US" altLang="ja-JP" dirty="0"/>
          </a:p>
          <a:p>
            <a:r>
              <a:rPr kumimoji="1" lang="en-US" altLang="ja-JP" dirty="0"/>
              <a:t>C:</a:t>
            </a:r>
            <a:r>
              <a:rPr kumimoji="1" lang="ja-JP" altLang="en-US" dirty="0"/>
              <a:t>個人への連券の販売額  </a:t>
            </a:r>
            <a:r>
              <a:rPr kumimoji="1" lang="en-US" altLang="ja-JP" dirty="0"/>
              <a:t>r:</a:t>
            </a:r>
            <a:r>
              <a:rPr kumimoji="1" lang="ja-JP" altLang="en-US" dirty="0"/>
              <a:t>証券会社の手数料　</a:t>
            </a:r>
            <a:r>
              <a:rPr kumimoji="1" lang="en-US" altLang="ja-JP" dirty="0"/>
              <a:t>A=B+C</a:t>
            </a:r>
            <a:endParaRPr kumimoji="1" lang="ja-JP" altLang="en-US" dirty="0"/>
          </a:p>
        </p:txBody>
      </p:sp>
      <p:sp>
        <p:nvSpPr>
          <p:cNvPr id="3" name="テキスト ボックス 2">
            <a:extLst>
              <a:ext uri="{FF2B5EF4-FFF2-40B4-BE49-F238E27FC236}">
                <a16:creationId xmlns:a16="http://schemas.microsoft.com/office/drawing/2014/main" id="{4DD75639-22BA-240D-82CF-D9F344401520}"/>
              </a:ext>
            </a:extLst>
          </p:cNvPr>
          <p:cNvSpPr txBox="1"/>
          <p:nvPr/>
        </p:nvSpPr>
        <p:spPr>
          <a:xfrm>
            <a:off x="1428750" y="2324378"/>
            <a:ext cx="1524000" cy="646331"/>
          </a:xfrm>
          <a:prstGeom prst="rect">
            <a:avLst/>
          </a:prstGeom>
          <a:noFill/>
        </p:spPr>
        <p:txBody>
          <a:bodyPr wrap="square" rtlCol="0">
            <a:spAutoFit/>
          </a:bodyPr>
          <a:lstStyle/>
          <a:p>
            <a:pPr algn="ctr"/>
            <a:r>
              <a:rPr kumimoji="1" lang="en-US" altLang="ja-JP" dirty="0"/>
              <a:t>X</a:t>
            </a:r>
            <a:r>
              <a:rPr kumimoji="1" lang="ja-JP" altLang="en-US" dirty="0"/>
              <a:t>制作委員会</a:t>
            </a:r>
            <a:endParaRPr kumimoji="1" lang="en-US" altLang="ja-JP" dirty="0"/>
          </a:p>
          <a:p>
            <a:pPr algn="ctr"/>
            <a:r>
              <a:rPr kumimoji="1" lang="en-US" altLang="ja-JP" dirty="0"/>
              <a:t>(Y</a:t>
            </a:r>
            <a:r>
              <a:rPr kumimoji="1" lang="ja-JP" altLang="en-US" dirty="0"/>
              <a:t>社</a:t>
            </a:r>
            <a:r>
              <a:rPr kumimoji="1" lang="en-US" altLang="ja-JP" dirty="0"/>
              <a:t>)</a:t>
            </a:r>
            <a:endParaRPr kumimoji="1" lang="ja-JP" altLang="en-US" dirty="0"/>
          </a:p>
        </p:txBody>
      </p:sp>
      <p:cxnSp>
        <p:nvCxnSpPr>
          <p:cNvPr id="5" name="直線矢印コネクタ 4">
            <a:extLst>
              <a:ext uri="{FF2B5EF4-FFF2-40B4-BE49-F238E27FC236}">
                <a16:creationId xmlns:a16="http://schemas.microsoft.com/office/drawing/2014/main" id="{A94F4481-9333-79E3-6D85-BAE1FB1C1E55}"/>
              </a:ext>
            </a:extLst>
          </p:cNvPr>
          <p:cNvCxnSpPr>
            <a:cxnSpLocks/>
          </p:cNvCxnSpPr>
          <p:nvPr/>
        </p:nvCxnSpPr>
        <p:spPr>
          <a:xfrm flipH="1" flipV="1">
            <a:off x="407096" y="1464724"/>
            <a:ext cx="1698172" cy="291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D77E7460-C9B4-B1FD-9D47-3D2D83CDD1C2}"/>
              </a:ext>
            </a:extLst>
          </p:cNvPr>
          <p:cNvCxnSpPr>
            <a:cxnSpLocks/>
          </p:cNvCxnSpPr>
          <p:nvPr/>
        </p:nvCxnSpPr>
        <p:spPr>
          <a:xfrm flipV="1">
            <a:off x="407096" y="1867259"/>
            <a:ext cx="1588718" cy="7213"/>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10" name="テキスト ボックス 9">
            <a:extLst>
              <a:ext uri="{FF2B5EF4-FFF2-40B4-BE49-F238E27FC236}">
                <a16:creationId xmlns:a16="http://schemas.microsoft.com/office/drawing/2014/main" id="{7AB67B11-82E6-0E6A-4C4E-B4CEE365836E}"/>
              </a:ext>
            </a:extLst>
          </p:cNvPr>
          <p:cNvSpPr txBox="1"/>
          <p:nvPr/>
        </p:nvSpPr>
        <p:spPr>
          <a:xfrm>
            <a:off x="2135613" y="1293707"/>
            <a:ext cx="1698171" cy="646331"/>
          </a:xfrm>
          <a:prstGeom prst="rect">
            <a:avLst/>
          </a:prstGeom>
          <a:noFill/>
        </p:spPr>
        <p:txBody>
          <a:bodyPr wrap="square" rtlCol="0">
            <a:spAutoFit/>
          </a:bodyPr>
          <a:lstStyle/>
          <a:p>
            <a:r>
              <a:rPr kumimoji="1" lang="ja-JP" altLang="en-US" dirty="0"/>
              <a:t>金の流れ</a:t>
            </a:r>
            <a:endParaRPr kumimoji="1" lang="en-US" altLang="ja-JP" dirty="0"/>
          </a:p>
          <a:p>
            <a:r>
              <a:rPr kumimoji="1" lang="ja-JP" altLang="en-US" dirty="0"/>
              <a:t>連券の流れ</a:t>
            </a:r>
          </a:p>
        </p:txBody>
      </p:sp>
      <p:sp>
        <p:nvSpPr>
          <p:cNvPr id="14" name="テキスト ボックス 13">
            <a:extLst>
              <a:ext uri="{FF2B5EF4-FFF2-40B4-BE49-F238E27FC236}">
                <a16:creationId xmlns:a16="http://schemas.microsoft.com/office/drawing/2014/main" id="{0F762542-27AC-4F5D-939E-2D4325C26ABD}"/>
              </a:ext>
            </a:extLst>
          </p:cNvPr>
          <p:cNvSpPr txBox="1"/>
          <p:nvPr/>
        </p:nvSpPr>
        <p:spPr>
          <a:xfrm>
            <a:off x="3718833" y="4502021"/>
            <a:ext cx="1548492" cy="646331"/>
          </a:xfrm>
          <a:prstGeom prst="rect">
            <a:avLst/>
          </a:prstGeom>
          <a:noFill/>
        </p:spPr>
        <p:txBody>
          <a:bodyPr wrap="square" rtlCol="0">
            <a:spAutoFit/>
          </a:bodyPr>
          <a:lstStyle/>
          <a:p>
            <a:pPr algn="ctr"/>
            <a:r>
              <a:rPr kumimoji="1" lang="ja-JP" altLang="en-US" dirty="0"/>
              <a:t>連券保有者（連権者）</a:t>
            </a:r>
          </a:p>
        </p:txBody>
      </p:sp>
      <p:sp>
        <p:nvSpPr>
          <p:cNvPr id="17" name="正方形/長方形 16">
            <a:extLst>
              <a:ext uri="{FF2B5EF4-FFF2-40B4-BE49-F238E27FC236}">
                <a16:creationId xmlns:a16="http://schemas.microsoft.com/office/drawing/2014/main" id="{55768DD9-70C6-85BA-1E3E-B1F0684114B0}"/>
              </a:ext>
            </a:extLst>
          </p:cNvPr>
          <p:cNvSpPr/>
          <p:nvPr/>
        </p:nvSpPr>
        <p:spPr>
          <a:xfrm>
            <a:off x="938463" y="4392612"/>
            <a:ext cx="7119673" cy="1569973"/>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2551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2EE6933-A7BC-F99E-E781-4790BB07F261}"/>
              </a:ext>
            </a:extLst>
          </p:cNvPr>
          <p:cNvSpPr/>
          <p:nvPr/>
        </p:nvSpPr>
        <p:spPr>
          <a:xfrm>
            <a:off x="5559879" y="2257425"/>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96C7FAE-1559-634D-E85F-F72D24561950}"/>
              </a:ext>
            </a:extLst>
          </p:cNvPr>
          <p:cNvSpPr>
            <a:spLocks noGrp="1"/>
          </p:cNvSpPr>
          <p:nvPr>
            <p:ph type="title"/>
          </p:nvPr>
        </p:nvSpPr>
        <p:spPr/>
        <p:txBody>
          <a:bodyPr/>
          <a:lstStyle/>
          <a:p>
            <a:r>
              <a:rPr kumimoji="1" lang="ja-JP" altLang="en-US" dirty="0"/>
              <a:t>プロジェクト終了時</a:t>
            </a:r>
          </a:p>
        </p:txBody>
      </p:sp>
      <p:sp>
        <p:nvSpPr>
          <p:cNvPr id="4" name="正方形/長方形 3">
            <a:extLst>
              <a:ext uri="{FF2B5EF4-FFF2-40B4-BE49-F238E27FC236}">
                <a16:creationId xmlns:a16="http://schemas.microsoft.com/office/drawing/2014/main" id="{0AA894B7-3782-CE7E-8FC8-446392355166}"/>
              </a:ext>
            </a:extLst>
          </p:cNvPr>
          <p:cNvSpPr/>
          <p:nvPr/>
        </p:nvSpPr>
        <p:spPr>
          <a:xfrm>
            <a:off x="1085850" y="2257425"/>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D9508AA8-AF36-0381-4E6D-9C0D61AD6346}"/>
              </a:ext>
            </a:extLst>
          </p:cNvPr>
          <p:cNvSpPr txBox="1"/>
          <p:nvPr/>
        </p:nvSpPr>
        <p:spPr>
          <a:xfrm>
            <a:off x="6055178" y="2364953"/>
            <a:ext cx="1219200" cy="369332"/>
          </a:xfrm>
          <a:prstGeom prst="rect">
            <a:avLst/>
          </a:prstGeom>
          <a:noFill/>
        </p:spPr>
        <p:txBody>
          <a:bodyPr wrap="square" rtlCol="0">
            <a:spAutoFit/>
          </a:bodyPr>
          <a:lstStyle/>
          <a:p>
            <a:pPr algn="ctr"/>
            <a:r>
              <a:rPr kumimoji="1" lang="ja-JP" altLang="en-US" dirty="0"/>
              <a:t>証券会社</a:t>
            </a:r>
          </a:p>
        </p:txBody>
      </p:sp>
      <p:sp>
        <p:nvSpPr>
          <p:cNvPr id="9" name="正方形/長方形 8">
            <a:extLst>
              <a:ext uri="{FF2B5EF4-FFF2-40B4-BE49-F238E27FC236}">
                <a16:creationId xmlns:a16="http://schemas.microsoft.com/office/drawing/2014/main" id="{8476BC62-3AA2-50E5-6497-836A79E6AF0B}"/>
              </a:ext>
            </a:extLst>
          </p:cNvPr>
          <p:cNvSpPr/>
          <p:nvPr/>
        </p:nvSpPr>
        <p:spPr>
          <a:xfrm>
            <a:off x="1085850" y="4521653"/>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EE0A4ABD-A15C-BC4F-0FB6-2153F7A6076C}"/>
              </a:ext>
            </a:extLst>
          </p:cNvPr>
          <p:cNvSpPr txBox="1"/>
          <p:nvPr/>
        </p:nvSpPr>
        <p:spPr>
          <a:xfrm>
            <a:off x="1309007" y="4668331"/>
            <a:ext cx="1763486" cy="369332"/>
          </a:xfrm>
          <a:prstGeom prst="rect">
            <a:avLst/>
          </a:prstGeom>
          <a:noFill/>
        </p:spPr>
        <p:txBody>
          <a:bodyPr wrap="square" rtlCol="0">
            <a:spAutoFit/>
          </a:bodyPr>
          <a:lstStyle/>
          <a:p>
            <a:pPr algn="ctr"/>
            <a:r>
              <a:rPr kumimoji="1" lang="ja-JP" altLang="en-US" dirty="0"/>
              <a:t>スポンサー企業</a:t>
            </a:r>
          </a:p>
        </p:txBody>
      </p:sp>
      <p:sp>
        <p:nvSpPr>
          <p:cNvPr id="12" name="正方形/長方形 11">
            <a:extLst>
              <a:ext uri="{FF2B5EF4-FFF2-40B4-BE49-F238E27FC236}">
                <a16:creationId xmlns:a16="http://schemas.microsoft.com/office/drawing/2014/main" id="{ED62974A-928A-56A4-0738-4365C776EE00}"/>
              </a:ext>
            </a:extLst>
          </p:cNvPr>
          <p:cNvSpPr/>
          <p:nvPr/>
        </p:nvSpPr>
        <p:spPr>
          <a:xfrm>
            <a:off x="5529943" y="4521653"/>
            <a:ext cx="2209800" cy="12954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ADD2529-943A-2172-C86D-6FCFBCA5BBA2}"/>
              </a:ext>
            </a:extLst>
          </p:cNvPr>
          <p:cNvSpPr txBox="1"/>
          <p:nvPr/>
        </p:nvSpPr>
        <p:spPr>
          <a:xfrm>
            <a:off x="5954485" y="4672365"/>
            <a:ext cx="1360715" cy="369332"/>
          </a:xfrm>
          <a:prstGeom prst="rect">
            <a:avLst/>
          </a:prstGeom>
          <a:noFill/>
        </p:spPr>
        <p:txBody>
          <a:bodyPr wrap="square" rtlCol="0">
            <a:spAutoFit/>
          </a:bodyPr>
          <a:lstStyle/>
          <a:p>
            <a:pPr algn="ctr"/>
            <a:r>
              <a:rPr kumimoji="1" lang="ja-JP" altLang="en-US" dirty="0"/>
              <a:t>個人連券主</a:t>
            </a:r>
          </a:p>
        </p:txBody>
      </p:sp>
      <p:cxnSp>
        <p:nvCxnSpPr>
          <p:cNvPr id="18" name="直線矢印コネクタ 17">
            <a:extLst>
              <a:ext uri="{FF2B5EF4-FFF2-40B4-BE49-F238E27FC236}">
                <a16:creationId xmlns:a16="http://schemas.microsoft.com/office/drawing/2014/main" id="{D502028B-9CBB-B915-9A37-198DA74DA8B3}"/>
              </a:ext>
            </a:extLst>
          </p:cNvPr>
          <p:cNvCxnSpPr>
            <a:cxnSpLocks/>
          </p:cNvCxnSpPr>
          <p:nvPr/>
        </p:nvCxnSpPr>
        <p:spPr>
          <a:xfrm>
            <a:off x="3752067" y="3539972"/>
            <a:ext cx="1484036" cy="1010054"/>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21196460-8CDB-B24F-D067-97853DD49539}"/>
              </a:ext>
            </a:extLst>
          </p:cNvPr>
          <p:cNvCxnSpPr>
            <a:cxnSpLocks/>
          </p:cNvCxnSpPr>
          <p:nvPr/>
        </p:nvCxnSpPr>
        <p:spPr>
          <a:xfrm>
            <a:off x="2230564" y="3655733"/>
            <a:ext cx="0" cy="804938"/>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2D46B64A-5D97-F3E4-12E2-EEE1AA763450}"/>
              </a:ext>
            </a:extLst>
          </p:cNvPr>
          <p:cNvSpPr txBox="1"/>
          <p:nvPr/>
        </p:nvSpPr>
        <p:spPr>
          <a:xfrm>
            <a:off x="457200" y="3965070"/>
            <a:ext cx="1823358" cy="369332"/>
          </a:xfrm>
          <a:prstGeom prst="rect">
            <a:avLst/>
          </a:prstGeom>
          <a:noFill/>
        </p:spPr>
        <p:txBody>
          <a:bodyPr wrap="square" rtlCol="0">
            <a:spAutoFit/>
          </a:bodyPr>
          <a:lstStyle/>
          <a:p>
            <a:r>
              <a:rPr kumimoji="1" lang="en-US" altLang="ja-JP" dirty="0"/>
              <a:t>Eb</a:t>
            </a:r>
            <a:r>
              <a:rPr kumimoji="1" lang="ja-JP" altLang="en-US" dirty="0"/>
              <a:t>円の最終買取</a:t>
            </a:r>
          </a:p>
        </p:txBody>
      </p:sp>
      <p:sp>
        <p:nvSpPr>
          <p:cNvPr id="23" name="テキスト ボックス 22">
            <a:extLst>
              <a:ext uri="{FF2B5EF4-FFF2-40B4-BE49-F238E27FC236}">
                <a16:creationId xmlns:a16="http://schemas.microsoft.com/office/drawing/2014/main" id="{9EE04925-E9D8-BAA6-0BF6-B1A2DFE4FED4}"/>
              </a:ext>
            </a:extLst>
          </p:cNvPr>
          <p:cNvSpPr txBox="1"/>
          <p:nvPr/>
        </p:nvSpPr>
        <p:spPr>
          <a:xfrm>
            <a:off x="457200" y="5962585"/>
            <a:ext cx="7413171" cy="646331"/>
          </a:xfrm>
          <a:prstGeom prst="rect">
            <a:avLst/>
          </a:prstGeom>
          <a:noFill/>
        </p:spPr>
        <p:txBody>
          <a:bodyPr wrap="square" rtlCol="0">
            <a:spAutoFit/>
          </a:bodyPr>
          <a:lstStyle/>
          <a:p>
            <a:r>
              <a:rPr kumimoji="1" lang="en-US" altLang="ja-JP" dirty="0"/>
              <a:t>A:</a:t>
            </a:r>
            <a:r>
              <a:rPr kumimoji="1" lang="ja-JP" altLang="en-US" dirty="0"/>
              <a:t>連券全体の金額  </a:t>
            </a:r>
            <a:r>
              <a:rPr kumimoji="1" lang="en-US" altLang="ja-JP" dirty="0"/>
              <a:t>B:</a:t>
            </a:r>
            <a:r>
              <a:rPr kumimoji="1" lang="ja-JP" altLang="en-US" dirty="0"/>
              <a:t>スポンサー企業への連券の販売額</a:t>
            </a:r>
            <a:endParaRPr kumimoji="1" lang="en-US" altLang="ja-JP" dirty="0"/>
          </a:p>
          <a:p>
            <a:r>
              <a:rPr kumimoji="1" lang="en-US" altLang="ja-JP" dirty="0"/>
              <a:t>C:</a:t>
            </a:r>
            <a:r>
              <a:rPr kumimoji="1" lang="ja-JP" altLang="en-US" dirty="0"/>
              <a:t>個人への連券の販売額  </a:t>
            </a:r>
            <a:r>
              <a:rPr kumimoji="1" lang="en-US" altLang="ja-JP" dirty="0"/>
              <a:t>r:</a:t>
            </a:r>
            <a:r>
              <a:rPr kumimoji="1" lang="ja-JP" altLang="en-US" dirty="0"/>
              <a:t>証券会社の手数料　</a:t>
            </a:r>
            <a:r>
              <a:rPr kumimoji="1" lang="en-US" altLang="ja-JP" dirty="0"/>
              <a:t>A=B+C</a:t>
            </a:r>
            <a:r>
              <a:rPr kumimoji="1" lang="ja-JP" altLang="en-US" dirty="0"/>
              <a:t>　</a:t>
            </a:r>
          </a:p>
        </p:txBody>
      </p:sp>
      <p:sp>
        <p:nvSpPr>
          <p:cNvPr id="3" name="テキスト ボックス 2">
            <a:extLst>
              <a:ext uri="{FF2B5EF4-FFF2-40B4-BE49-F238E27FC236}">
                <a16:creationId xmlns:a16="http://schemas.microsoft.com/office/drawing/2014/main" id="{4DD75639-22BA-240D-82CF-D9F344401520}"/>
              </a:ext>
            </a:extLst>
          </p:cNvPr>
          <p:cNvSpPr txBox="1"/>
          <p:nvPr/>
        </p:nvSpPr>
        <p:spPr>
          <a:xfrm>
            <a:off x="1428750" y="2324378"/>
            <a:ext cx="1524000" cy="646331"/>
          </a:xfrm>
          <a:prstGeom prst="rect">
            <a:avLst/>
          </a:prstGeom>
          <a:noFill/>
        </p:spPr>
        <p:txBody>
          <a:bodyPr wrap="square" rtlCol="0">
            <a:spAutoFit/>
          </a:bodyPr>
          <a:lstStyle/>
          <a:p>
            <a:pPr algn="ctr"/>
            <a:r>
              <a:rPr kumimoji="1" lang="en-US" altLang="ja-JP" dirty="0"/>
              <a:t>X</a:t>
            </a:r>
            <a:r>
              <a:rPr kumimoji="1" lang="ja-JP" altLang="en-US" dirty="0"/>
              <a:t>制作委員会</a:t>
            </a:r>
            <a:endParaRPr kumimoji="1" lang="en-US" altLang="ja-JP" dirty="0"/>
          </a:p>
          <a:p>
            <a:pPr algn="ctr"/>
            <a:r>
              <a:rPr kumimoji="1" lang="en-US" altLang="ja-JP" dirty="0"/>
              <a:t>(Y</a:t>
            </a:r>
            <a:r>
              <a:rPr kumimoji="1" lang="ja-JP" altLang="en-US" dirty="0"/>
              <a:t>社</a:t>
            </a:r>
            <a:r>
              <a:rPr kumimoji="1" lang="en-US" altLang="ja-JP" dirty="0"/>
              <a:t>)</a:t>
            </a:r>
            <a:endParaRPr kumimoji="1" lang="ja-JP" altLang="en-US" dirty="0"/>
          </a:p>
        </p:txBody>
      </p:sp>
      <p:cxnSp>
        <p:nvCxnSpPr>
          <p:cNvPr id="10" name="直線矢印コネクタ 9">
            <a:extLst>
              <a:ext uri="{FF2B5EF4-FFF2-40B4-BE49-F238E27FC236}">
                <a16:creationId xmlns:a16="http://schemas.microsoft.com/office/drawing/2014/main" id="{3B127CD6-AEFE-AF22-7E18-2C518AFCF232}"/>
              </a:ext>
            </a:extLst>
          </p:cNvPr>
          <p:cNvCxnSpPr>
            <a:cxnSpLocks/>
          </p:cNvCxnSpPr>
          <p:nvPr/>
        </p:nvCxnSpPr>
        <p:spPr>
          <a:xfrm flipV="1">
            <a:off x="2443506" y="3655733"/>
            <a:ext cx="0" cy="67866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直線矢印コネクタ 16">
            <a:extLst>
              <a:ext uri="{FF2B5EF4-FFF2-40B4-BE49-F238E27FC236}">
                <a16:creationId xmlns:a16="http://schemas.microsoft.com/office/drawing/2014/main" id="{5150B4DE-B63D-8DFD-662A-829EC365C703}"/>
              </a:ext>
            </a:extLst>
          </p:cNvPr>
          <p:cNvCxnSpPr>
            <a:cxnSpLocks/>
          </p:cNvCxnSpPr>
          <p:nvPr/>
        </p:nvCxnSpPr>
        <p:spPr>
          <a:xfrm flipH="1" flipV="1">
            <a:off x="407096" y="1464724"/>
            <a:ext cx="1698172" cy="291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1BC02496-34A9-D2BA-1749-1C904A98B2FE}"/>
              </a:ext>
            </a:extLst>
          </p:cNvPr>
          <p:cNvCxnSpPr>
            <a:cxnSpLocks/>
          </p:cNvCxnSpPr>
          <p:nvPr/>
        </p:nvCxnSpPr>
        <p:spPr>
          <a:xfrm flipV="1">
            <a:off x="502048" y="1760682"/>
            <a:ext cx="1588718" cy="7213"/>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5" name="テキスト ボックス 24">
            <a:extLst>
              <a:ext uri="{FF2B5EF4-FFF2-40B4-BE49-F238E27FC236}">
                <a16:creationId xmlns:a16="http://schemas.microsoft.com/office/drawing/2014/main" id="{9875D410-8945-8518-87F0-4E547BC241A5}"/>
              </a:ext>
            </a:extLst>
          </p:cNvPr>
          <p:cNvSpPr txBox="1"/>
          <p:nvPr/>
        </p:nvSpPr>
        <p:spPr>
          <a:xfrm>
            <a:off x="2135613" y="1293707"/>
            <a:ext cx="1698171" cy="646331"/>
          </a:xfrm>
          <a:prstGeom prst="rect">
            <a:avLst/>
          </a:prstGeom>
          <a:noFill/>
        </p:spPr>
        <p:txBody>
          <a:bodyPr wrap="square" rtlCol="0">
            <a:spAutoFit/>
          </a:bodyPr>
          <a:lstStyle/>
          <a:p>
            <a:r>
              <a:rPr kumimoji="1" lang="ja-JP" altLang="en-US" dirty="0"/>
              <a:t>金の流れ</a:t>
            </a:r>
            <a:endParaRPr kumimoji="1" lang="en-US" altLang="ja-JP" dirty="0"/>
          </a:p>
          <a:p>
            <a:r>
              <a:rPr kumimoji="1" lang="ja-JP" altLang="en-US" dirty="0"/>
              <a:t>連券の流れ</a:t>
            </a:r>
          </a:p>
        </p:txBody>
      </p:sp>
      <p:cxnSp>
        <p:nvCxnSpPr>
          <p:cNvPr id="26" name="直線矢印コネクタ 25">
            <a:extLst>
              <a:ext uri="{FF2B5EF4-FFF2-40B4-BE49-F238E27FC236}">
                <a16:creationId xmlns:a16="http://schemas.microsoft.com/office/drawing/2014/main" id="{E02B8FC6-41AF-B23B-B688-4A5086FE1CBC}"/>
              </a:ext>
            </a:extLst>
          </p:cNvPr>
          <p:cNvCxnSpPr>
            <a:cxnSpLocks/>
          </p:cNvCxnSpPr>
          <p:nvPr/>
        </p:nvCxnSpPr>
        <p:spPr>
          <a:xfrm flipH="1" flipV="1">
            <a:off x="3589118" y="3652808"/>
            <a:ext cx="1262111" cy="8942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261E8DE8-8925-1891-548A-094CA0A43AFD}"/>
              </a:ext>
            </a:extLst>
          </p:cNvPr>
          <p:cNvSpPr txBox="1"/>
          <p:nvPr/>
        </p:nvSpPr>
        <p:spPr>
          <a:xfrm>
            <a:off x="4780841" y="3860333"/>
            <a:ext cx="1823358" cy="369332"/>
          </a:xfrm>
          <a:prstGeom prst="rect">
            <a:avLst/>
          </a:prstGeom>
          <a:noFill/>
        </p:spPr>
        <p:txBody>
          <a:bodyPr wrap="square" rtlCol="0">
            <a:spAutoFit/>
          </a:bodyPr>
          <a:lstStyle/>
          <a:p>
            <a:r>
              <a:rPr kumimoji="1" lang="en-US" altLang="ja-JP" dirty="0" err="1"/>
              <a:t>Ec</a:t>
            </a:r>
            <a:r>
              <a:rPr kumimoji="1" lang="ja-JP" altLang="en-US" dirty="0"/>
              <a:t>円の最終買取</a:t>
            </a:r>
          </a:p>
        </p:txBody>
      </p:sp>
      <p:sp>
        <p:nvSpPr>
          <p:cNvPr id="29" name="テキスト ボックス 28">
            <a:extLst>
              <a:ext uri="{FF2B5EF4-FFF2-40B4-BE49-F238E27FC236}">
                <a16:creationId xmlns:a16="http://schemas.microsoft.com/office/drawing/2014/main" id="{CFA7C608-DC78-EC8D-906B-400E7C98572F}"/>
              </a:ext>
            </a:extLst>
          </p:cNvPr>
          <p:cNvSpPr txBox="1"/>
          <p:nvPr/>
        </p:nvSpPr>
        <p:spPr>
          <a:xfrm>
            <a:off x="3718833" y="4502021"/>
            <a:ext cx="1548492" cy="646331"/>
          </a:xfrm>
          <a:prstGeom prst="rect">
            <a:avLst/>
          </a:prstGeom>
          <a:noFill/>
        </p:spPr>
        <p:txBody>
          <a:bodyPr wrap="square" rtlCol="0">
            <a:spAutoFit/>
          </a:bodyPr>
          <a:lstStyle/>
          <a:p>
            <a:pPr algn="ctr"/>
            <a:r>
              <a:rPr kumimoji="1" lang="ja-JP" altLang="en-US" dirty="0"/>
              <a:t>連券保有者（連権者）</a:t>
            </a:r>
          </a:p>
        </p:txBody>
      </p:sp>
      <p:sp>
        <p:nvSpPr>
          <p:cNvPr id="30" name="正方形/長方形 29">
            <a:extLst>
              <a:ext uri="{FF2B5EF4-FFF2-40B4-BE49-F238E27FC236}">
                <a16:creationId xmlns:a16="http://schemas.microsoft.com/office/drawing/2014/main" id="{740E0AB8-E642-52B8-DEEC-6376554BD546}"/>
              </a:ext>
            </a:extLst>
          </p:cNvPr>
          <p:cNvSpPr/>
          <p:nvPr/>
        </p:nvSpPr>
        <p:spPr>
          <a:xfrm>
            <a:off x="938463" y="4392612"/>
            <a:ext cx="7119673" cy="1569973"/>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B253723D-3BC6-F866-2CCE-33C6690C8F77}"/>
              </a:ext>
            </a:extLst>
          </p:cNvPr>
          <p:cNvSpPr txBox="1"/>
          <p:nvPr/>
        </p:nvSpPr>
        <p:spPr>
          <a:xfrm>
            <a:off x="6082822" y="6244390"/>
            <a:ext cx="1407695" cy="369332"/>
          </a:xfrm>
          <a:prstGeom prst="rect">
            <a:avLst/>
          </a:prstGeom>
          <a:noFill/>
        </p:spPr>
        <p:txBody>
          <a:bodyPr wrap="square" rtlCol="0">
            <a:spAutoFit/>
          </a:bodyPr>
          <a:lstStyle/>
          <a:p>
            <a:r>
              <a:rPr kumimoji="1" lang="en-US" altLang="ja-JP" dirty="0"/>
              <a:t>E=</a:t>
            </a:r>
            <a:r>
              <a:rPr kumimoji="1" lang="en-US" altLang="ja-JP" dirty="0" err="1"/>
              <a:t>Eb+Ec</a:t>
            </a:r>
            <a:endParaRPr kumimoji="1" lang="ja-JP" altLang="en-US" dirty="0"/>
          </a:p>
        </p:txBody>
      </p:sp>
    </p:spTree>
    <p:extLst>
      <p:ext uri="{BB962C8B-B14F-4D97-AF65-F5344CB8AC3E}">
        <p14:creationId xmlns:p14="http://schemas.microsoft.com/office/powerpoint/2010/main" val="274132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8"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C1B9B6A-51A7-F3E1-056D-2DFE04275DBD}"/>
              </a:ext>
            </a:extLst>
          </p:cNvPr>
          <p:cNvSpPr>
            <a:spLocks noGrp="1"/>
          </p:cNvSpPr>
          <p:nvPr>
            <p:ph idx="1"/>
          </p:nvPr>
        </p:nvSpPr>
        <p:spPr/>
        <p:txBody>
          <a:bodyPr/>
          <a:lstStyle/>
          <a:p>
            <a:r>
              <a:rPr kumimoji="1" lang="ja-JP" altLang="en-US" dirty="0"/>
              <a:t>制作会社の利益</a:t>
            </a:r>
            <a:endParaRPr kumimoji="1" lang="en-US" altLang="ja-JP" dirty="0"/>
          </a:p>
          <a:p>
            <a:r>
              <a:rPr kumimoji="1" lang="ja-JP" altLang="en-US" sz="2000" dirty="0">
                <a:solidFill>
                  <a:srgbClr val="FF0000"/>
                </a:solidFill>
              </a:rPr>
              <a:t>純利益 </a:t>
            </a:r>
            <a:r>
              <a:rPr kumimoji="1" lang="en-US" altLang="ja-JP" sz="2000" dirty="0">
                <a:solidFill>
                  <a:srgbClr val="FF0000"/>
                </a:solidFill>
              </a:rPr>
              <a:t>+ </a:t>
            </a:r>
            <a:r>
              <a:rPr kumimoji="1" lang="ja-JP" altLang="en-US" sz="2000" dirty="0">
                <a:solidFill>
                  <a:srgbClr val="FF0000"/>
                </a:solidFill>
              </a:rPr>
              <a:t>制作会社の配当金 </a:t>
            </a:r>
            <a:r>
              <a:rPr kumimoji="1" lang="en-US" altLang="ja-JP" sz="2000" dirty="0">
                <a:solidFill>
                  <a:srgbClr val="0070C0"/>
                </a:solidFill>
              </a:rPr>
              <a:t>- </a:t>
            </a:r>
            <a:r>
              <a:rPr kumimoji="1" lang="ja-JP" altLang="en-US" sz="2000" dirty="0">
                <a:solidFill>
                  <a:srgbClr val="0070C0"/>
                </a:solidFill>
              </a:rPr>
              <a:t>配当金</a:t>
            </a:r>
            <a:r>
              <a:rPr kumimoji="1" lang="en-US" altLang="ja-JP" sz="2000" dirty="0">
                <a:solidFill>
                  <a:srgbClr val="0070C0"/>
                </a:solidFill>
              </a:rPr>
              <a:t> - </a:t>
            </a:r>
            <a:r>
              <a:rPr kumimoji="1" lang="ja-JP" altLang="en-US" sz="2000" dirty="0">
                <a:solidFill>
                  <a:srgbClr val="0070C0"/>
                </a:solidFill>
              </a:rPr>
              <a:t>最終買取価格</a:t>
            </a:r>
          </a:p>
          <a:p>
            <a:pPr marL="0" indent="0">
              <a:buNone/>
            </a:pPr>
            <a:endParaRPr kumimoji="1" lang="en-US" altLang="ja-JP" sz="2000" dirty="0"/>
          </a:p>
          <a:p>
            <a:r>
              <a:rPr kumimoji="1" lang="ja-JP" altLang="en-US" dirty="0"/>
              <a:t>連券保有者の利益</a:t>
            </a:r>
            <a:endParaRPr kumimoji="1" lang="en-US" altLang="ja-JP" dirty="0"/>
          </a:p>
          <a:p>
            <a:r>
              <a:rPr kumimoji="1" lang="ja-JP" altLang="en-US" sz="2000" dirty="0">
                <a:solidFill>
                  <a:srgbClr val="FF0000"/>
                </a:solidFill>
              </a:rPr>
              <a:t>連券保有者の配当金 </a:t>
            </a:r>
            <a:r>
              <a:rPr kumimoji="1" lang="en-US" altLang="ja-JP" sz="2000" dirty="0">
                <a:solidFill>
                  <a:srgbClr val="FF0000"/>
                </a:solidFill>
              </a:rPr>
              <a:t>+ </a:t>
            </a:r>
            <a:r>
              <a:rPr kumimoji="1" lang="ja-JP" altLang="en-US" sz="2000" dirty="0">
                <a:solidFill>
                  <a:srgbClr val="FF0000"/>
                </a:solidFill>
              </a:rPr>
              <a:t>最終買取価格 </a:t>
            </a:r>
            <a:r>
              <a:rPr kumimoji="1" lang="en-US" altLang="ja-JP" sz="2000" dirty="0">
                <a:solidFill>
                  <a:srgbClr val="0070C0"/>
                </a:solidFill>
              </a:rPr>
              <a:t>- </a:t>
            </a:r>
            <a:r>
              <a:rPr kumimoji="1" lang="ja-JP" altLang="en-US" sz="2000" dirty="0">
                <a:solidFill>
                  <a:srgbClr val="0070C0"/>
                </a:solidFill>
              </a:rPr>
              <a:t>連券の購入費</a:t>
            </a:r>
            <a:endParaRPr kumimoji="1" lang="en-US" altLang="ja-JP" sz="2000" dirty="0">
              <a:solidFill>
                <a:srgbClr val="0070C0"/>
              </a:solidFill>
            </a:endParaRPr>
          </a:p>
          <a:p>
            <a:endParaRPr kumimoji="1" lang="en-US" altLang="ja-JP" sz="2000" dirty="0"/>
          </a:p>
          <a:p>
            <a:r>
              <a:rPr kumimoji="1" lang="ja-JP" altLang="en-US" dirty="0"/>
              <a:t>証券会社の利益</a:t>
            </a:r>
            <a:endParaRPr kumimoji="1" lang="en-US" altLang="ja-JP" dirty="0"/>
          </a:p>
          <a:p>
            <a:r>
              <a:rPr kumimoji="1" lang="ja-JP" altLang="en-US" sz="2000" dirty="0">
                <a:solidFill>
                  <a:srgbClr val="FF0000"/>
                </a:solidFill>
              </a:rPr>
              <a:t>手数料</a:t>
            </a:r>
          </a:p>
        </p:txBody>
      </p:sp>
    </p:spTree>
    <p:extLst>
      <p:ext uri="{BB962C8B-B14F-4D97-AF65-F5344CB8AC3E}">
        <p14:creationId xmlns:p14="http://schemas.microsoft.com/office/powerpoint/2010/main" val="727335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98C2DD-D729-F48D-6E68-2C538C40C986}"/>
              </a:ext>
            </a:extLst>
          </p:cNvPr>
          <p:cNvSpPr>
            <a:spLocks noGrp="1"/>
          </p:cNvSpPr>
          <p:nvPr>
            <p:ph type="title"/>
          </p:nvPr>
        </p:nvSpPr>
        <p:spPr/>
        <p:txBody>
          <a:bodyPr/>
          <a:lstStyle/>
          <a:p>
            <a:r>
              <a:rPr kumimoji="1" lang="ja-JP" altLang="en-US" dirty="0"/>
              <a:t>連券の構成図の例</a:t>
            </a:r>
          </a:p>
        </p:txBody>
      </p:sp>
      <p:graphicFrame>
        <p:nvGraphicFramePr>
          <p:cNvPr id="6" name="コンテンツ プレースホルダー 5">
            <a:extLst>
              <a:ext uri="{FF2B5EF4-FFF2-40B4-BE49-F238E27FC236}">
                <a16:creationId xmlns:a16="http://schemas.microsoft.com/office/drawing/2014/main" id="{64516915-EC61-DE01-E393-96CAEE018390}"/>
              </a:ext>
            </a:extLst>
          </p:cNvPr>
          <p:cNvGraphicFramePr>
            <a:graphicFrameLocks noGrp="1"/>
          </p:cNvGraphicFramePr>
          <p:nvPr>
            <p:ph idx="1"/>
            <p:extLst>
              <p:ext uri="{D42A27DB-BD31-4B8C-83A1-F6EECF244321}">
                <p14:modId xmlns:p14="http://schemas.microsoft.com/office/powerpoint/2010/main" val="542432472"/>
              </p:ext>
            </p:extLst>
          </p:nvPr>
        </p:nvGraphicFramePr>
        <p:xfrm>
          <a:off x="359229" y="1417638"/>
          <a:ext cx="8229600" cy="4525963"/>
        </p:xfrm>
        <a:graphic>
          <a:graphicData uri="http://schemas.openxmlformats.org/drawingml/2006/chart">
            <c:chart xmlns:c="http://schemas.openxmlformats.org/drawingml/2006/chart" xmlns:r="http://schemas.openxmlformats.org/officeDocument/2006/relationships" r:id="rId3"/>
          </a:graphicData>
        </a:graphic>
      </p:graphicFrame>
      <p:sp>
        <p:nvSpPr>
          <p:cNvPr id="7" name="テキスト ボックス 6">
            <a:extLst>
              <a:ext uri="{FF2B5EF4-FFF2-40B4-BE49-F238E27FC236}">
                <a16:creationId xmlns:a16="http://schemas.microsoft.com/office/drawing/2014/main" id="{EB20B99C-BA23-5B07-5038-52C79946D67B}"/>
              </a:ext>
            </a:extLst>
          </p:cNvPr>
          <p:cNvSpPr txBox="1"/>
          <p:nvPr/>
        </p:nvSpPr>
        <p:spPr>
          <a:xfrm>
            <a:off x="359229" y="2405743"/>
            <a:ext cx="2013857" cy="923330"/>
          </a:xfrm>
          <a:prstGeom prst="rect">
            <a:avLst/>
          </a:prstGeom>
          <a:noFill/>
        </p:spPr>
        <p:txBody>
          <a:bodyPr wrap="square" rtlCol="0">
            <a:spAutoFit/>
          </a:bodyPr>
          <a:lstStyle/>
          <a:p>
            <a:r>
              <a:rPr kumimoji="1" lang="en-US" altLang="ja-JP" dirty="0"/>
              <a:t>A=7.7</a:t>
            </a:r>
            <a:r>
              <a:rPr kumimoji="1" lang="ja-JP" altLang="en-US" dirty="0"/>
              <a:t>億円</a:t>
            </a:r>
            <a:endParaRPr kumimoji="1" lang="en-US" altLang="ja-JP" dirty="0"/>
          </a:p>
          <a:p>
            <a:r>
              <a:rPr kumimoji="1" lang="en-US" altLang="ja-JP" dirty="0"/>
              <a:t>B=6.5</a:t>
            </a:r>
            <a:r>
              <a:rPr kumimoji="1" lang="ja-JP" altLang="en-US" dirty="0"/>
              <a:t>億円</a:t>
            </a:r>
            <a:endParaRPr kumimoji="1" lang="en-US" altLang="ja-JP" dirty="0"/>
          </a:p>
          <a:p>
            <a:r>
              <a:rPr kumimoji="1" lang="en-US" altLang="ja-JP" dirty="0"/>
              <a:t>C=1.2</a:t>
            </a:r>
            <a:r>
              <a:rPr kumimoji="1" lang="ja-JP" altLang="en-US" dirty="0"/>
              <a:t>億円</a:t>
            </a:r>
          </a:p>
        </p:txBody>
      </p:sp>
    </p:spTree>
    <p:extLst>
      <p:ext uri="{BB962C8B-B14F-4D97-AF65-F5344CB8AC3E}">
        <p14:creationId xmlns:p14="http://schemas.microsoft.com/office/powerpoint/2010/main" val="151350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98C2DD-D729-F48D-6E68-2C538C40C986}"/>
              </a:ext>
            </a:extLst>
          </p:cNvPr>
          <p:cNvSpPr>
            <a:spLocks noGrp="1"/>
          </p:cNvSpPr>
          <p:nvPr>
            <p:ph type="title"/>
          </p:nvPr>
        </p:nvSpPr>
        <p:spPr/>
        <p:txBody>
          <a:bodyPr/>
          <a:lstStyle/>
          <a:p>
            <a:r>
              <a:rPr kumimoji="1" lang="ja-JP" altLang="en-US" dirty="0"/>
              <a:t>連券の構成図の例</a:t>
            </a:r>
          </a:p>
        </p:txBody>
      </p:sp>
      <p:graphicFrame>
        <p:nvGraphicFramePr>
          <p:cNvPr id="6" name="コンテンツ プレースホルダー 5">
            <a:extLst>
              <a:ext uri="{FF2B5EF4-FFF2-40B4-BE49-F238E27FC236}">
                <a16:creationId xmlns:a16="http://schemas.microsoft.com/office/drawing/2014/main" id="{64516915-EC61-DE01-E393-96CAEE018390}"/>
              </a:ext>
            </a:extLst>
          </p:cNvPr>
          <p:cNvGraphicFramePr>
            <a:graphicFrameLocks noGrp="1"/>
          </p:cNvGraphicFramePr>
          <p:nvPr>
            <p:ph idx="1"/>
            <p:extLst>
              <p:ext uri="{D42A27DB-BD31-4B8C-83A1-F6EECF244321}">
                <p14:modId xmlns:p14="http://schemas.microsoft.com/office/powerpoint/2010/main" val="1448066758"/>
              </p:ext>
            </p:extLst>
          </p:nvPr>
        </p:nvGraphicFramePr>
        <p:xfrm>
          <a:off x="359229" y="1417638"/>
          <a:ext cx="8229600" cy="4525963"/>
        </p:xfrm>
        <a:graphic>
          <a:graphicData uri="http://schemas.openxmlformats.org/drawingml/2006/chart">
            <c:chart xmlns:c="http://schemas.openxmlformats.org/drawingml/2006/chart" xmlns:r="http://schemas.openxmlformats.org/officeDocument/2006/relationships" r:id="rId3"/>
          </a:graphicData>
        </a:graphic>
      </p:graphicFrame>
      <p:sp>
        <p:nvSpPr>
          <p:cNvPr id="7" name="テキスト ボックス 6">
            <a:extLst>
              <a:ext uri="{FF2B5EF4-FFF2-40B4-BE49-F238E27FC236}">
                <a16:creationId xmlns:a16="http://schemas.microsoft.com/office/drawing/2014/main" id="{EB20B99C-BA23-5B07-5038-52C79946D67B}"/>
              </a:ext>
            </a:extLst>
          </p:cNvPr>
          <p:cNvSpPr txBox="1"/>
          <p:nvPr/>
        </p:nvSpPr>
        <p:spPr>
          <a:xfrm>
            <a:off x="359229" y="2405743"/>
            <a:ext cx="2013857" cy="1200329"/>
          </a:xfrm>
          <a:prstGeom prst="rect">
            <a:avLst/>
          </a:prstGeom>
          <a:noFill/>
        </p:spPr>
        <p:txBody>
          <a:bodyPr wrap="square" rtlCol="0">
            <a:spAutoFit/>
          </a:bodyPr>
          <a:lstStyle/>
          <a:p>
            <a:r>
              <a:rPr kumimoji="1" lang="en-US" altLang="ja-JP" dirty="0"/>
              <a:t>Y=4.6</a:t>
            </a:r>
            <a:r>
              <a:rPr kumimoji="1" lang="ja-JP" altLang="en-US" dirty="0"/>
              <a:t>億円</a:t>
            </a:r>
            <a:endParaRPr kumimoji="1" lang="en-US" altLang="ja-JP" dirty="0"/>
          </a:p>
          <a:p>
            <a:r>
              <a:rPr kumimoji="1" lang="ja-JP" altLang="en-US" dirty="0"/>
              <a:t>株主</a:t>
            </a:r>
            <a:r>
              <a:rPr kumimoji="1" lang="en-US" altLang="ja-JP" dirty="0"/>
              <a:t>1=43.5%</a:t>
            </a:r>
          </a:p>
          <a:p>
            <a:r>
              <a:rPr kumimoji="1" lang="ja-JP" altLang="en-US" dirty="0"/>
              <a:t>株主</a:t>
            </a:r>
            <a:r>
              <a:rPr kumimoji="1" lang="en-US" altLang="ja-JP" dirty="0"/>
              <a:t>2=34.7%</a:t>
            </a:r>
          </a:p>
          <a:p>
            <a:r>
              <a:rPr kumimoji="1" lang="ja-JP" altLang="en-US" dirty="0"/>
              <a:t>株主</a:t>
            </a:r>
            <a:r>
              <a:rPr kumimoji="1" lang="en-US" altLang="ja-JP" dirty="0"/>
              <a:t>3=21.8%</a:t>
            </a:r>
          </a:p>
        </p:txBody>
      </p:sp>
      <p:sp>
        <p:nvSpPr>
          <p:cNvPr id="3" name="テキスト ボックス 2">
            <a:extLst>
              <a:ext uri="{FF2B5EF4-FFF2-40B4-BE49-F238E27FC236}">
                <a16:creationId xmlns:a16="http://schemas.microsoft.com/office/drawing/2014/main" id="{4E46BB36-BDE6-C76A-A62A-E3E460EC8FDF}"/>
              </a:ext>
            </a:extLst>
          </p:cNvPr>
          <p:cNvSpPr txBox="1"/>
          <p:nvPr/>
        </p:nvSpPr>
        <p:spPr>
          <a:xfrm>
            <a:off x="261258" y="3680619"/>
            <a:ext cx="3755571" cy="1200329"/>
          </a:xfrm>
          <a:prstGeom prst="rect">
            <a:avLst/>
          </a:prstGeom>
          <a:noFill/>
        </p:spPr>
        <p:txBody>
          <a:bodyPr wrap="square" rtlCol="0">
            <a:spAutoFit/>
          </a:bodyPr>
          <a:lstStyle/>
          <a:p>
            <a:r>
              <a:rPr kumimoji="1" lang="en-US" altLang="ja-JP" sz="2400" dirty="0"/>
              <a:t>(</a:t>
            </a:r>
            <a:r>
              <a:rPr kumimoji="1" lang="ja-JP" altLang="en-US" sz="2400" dirty="0"/>
              <a:t>株主</a:t>
            </a:r>
            <a:r>
              <a:rPr kumimoji="1" lang="en-US" altLang="ja-JP" sz="2400" dirty="0"/>
              <a:t>1</a:t>
            </a:r>
            <a:r>
              <a:rPr kumimoji="1" lang="ja-JP" altLang="en-US" sz="2400" dirty="0"/>
              <a:t>の株式割合</a:t>
            </a:r>
            <a:r>
              <a:rPr kumimoji="1" lang="en-US" altLang="ja-JP" sz="2400" dirty="0"/>
              <a:t>)43.5%×</a:t>
            </a:r>
          </a:p>
          <a:p>
            <a:r>
              <a:rPr kumimoji="1" lang="en-US" altLang="ja-JP" sz="2400" dirty="0"/>
              <a:t>(Y</a:t>
            </a:r>
            <a:r>
              <a:rPr kumimoji="1" lang="ja-JP" altLang="en-US" sz="2400" dirty="0"/>
              <a:t>社の連券保有割合</a:t>
            </a:r>
            <a:r>
              <a:rPr kumimoji="1" lang="en-US" altLang="ja-JP" sz="2400" dirty="0"/>
              <a:t>)59.7%</a:t>
            </a:r>
          </a:p>
          <a:p>
            <a:r>
              <a:rPr kumimoji="1" lang="en-US" altLang="ja-JP" sz="2400" dirty="0"/>
              <a:t>=30.0%</a:t>
            </a:r>
            <a:endParaRPr kumimoji="1" lang="ja-JP" altLang="en-US" sz="2400" dirty="0"/>
          </a:p>
        </p:txBody>
      </p:sp>
    </p:spTree>
    <p:extLst>
      <p:ext uri="{BB962C8B-B14F-4D97-AF65-F5344CB8AC3E}">
        <p14:creationId xmlns:p14="http://schemas.microsoft.com/office/powerpoint/2010/main" val="1695239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6F362A-65FA-9696-CDDC-B15729E9AAFC}"/>
              </a:ext>
            </a:extLst>
          </p:cNvPr>
          <p:cNvSpPr>
            <a:spLocks noGrp="1"/>
          </p:cNvSpPr>
          <p:nvPr>
            <p:ph type="title"/>
          </p:nvPr>
        </p:nvSpPr>
        <p:spPr/>
        <p:txBody>
          <a:bodyPr/>
          <a:lstStyle/>
          <a:p>
            <a:r>
              <a:rPr kumimoji="1" lang="ja-JP" altLang="en-US" dirty="0"/>
              <a:t>基本的には株と同じ</a:t>
            </a:r>
            <a:endParaRPr kumimoji="1" lang="en-US" altLang="ja-JP" dirty="0"/>
          </a:p>
        </p:txBody>
      </p:sp>
      <p:sp>
        <p:nvSpPr>
          <p:cNvPr id="3" name="コンテンツ プレースホルダー 2">
            <a:extLst>
              <a:ext uri="{FF2B5EF4-FFF2-40B4-BE49-F238E27FC236}">
                <a16:creationId xmlns:a16="http://schemas.microsoft.com/office/drawing/2014/main" id="{D4CBFF77-02C2-10DF-747C-AB0FD8B8B571}"/>
              </a:ext>
            </a:extLst>
          </p:cNvPr>
          <p:cNvSpPr>
            <a:spLocks noGrp="1"/>
          </p:cNvSpPr>
          <p:nvPr>
            <p:ph idx="1"/>
          </p:nvPr>
        </p:nvSpPr>
        <p:spPr/>
        <p:txBody>
          <a:bodyPr/>
          <a:lstStyle/>
          <a:p>
            <a:r>
              <a:rPr kumimoji="1" lang="ja-JP" altLang="en-US" sz="2400" dirty="0"/>
              <a:t>配当金受取</a:t>
            </a:r>
            <a:endParaRPr kumimoji="1" lang="en-US" altLang="ja-JP" sz="2400" dirty="0"/>
          </a:p>
          <a:p>
            <a:r>
              <a:rPr kumimoji="1" lang="ja-JP" altLang="en-US" sz="2400" dirty="0"/>
              <a:t>過半数保有による独占</a:t>
            </a:r>
            <a:endParaRPr kumimoji="1" lang="en-US" altLang="ja-JP" sz="2400" dirty="0"/>
          </a:p>
          <a:p>
            <a:r>
              <a:rPr kumimoji="1" lang="ja-JP" altLang="en-US" sz="2400" dirty="0"/>
              <a:t>セカンダリー市場における売買</a:t>
            </a:r>
            <a:endParaRPr kumimoji="1" lang="en-US" altLang="ja-JP" sz="2400" dirty="0"/>
          </a:p>
          <a:p>
            <a:r>
              <a:rPr kumimoji="1" lang="ja-JP" altLang="en-US" sz="2400" dirty="0"/>
              <a:t>空売り</a:t>
            </a:r>
            <a:endParaRPr kumimoji="1" lang="en-US" altLang="ja-JP" sz="2400" dirty="0"/>
          </a:p>
          <a:p>
            <a:r>
              <a:rPr kumimoji="1" lang="ja-JP" altLang="en-US" sz="2400" dirty="0"/>
              <a:t>増資</a:t>
            </a:r>
            <a:endParaRPr kumimoji="1" lang="en-US" altLang="ja-JP" sz="2400" dirty="0"/>
          </a:p>
          <a:p>
            <a:r>
              <a:rPr kumimoji="1" lang="ja-JP" altLang="en-US" sz="2400" dirty="0"/>
              <a:t>プロジェクト担当企業による保有</a:t>
            </a:r>
            <a:endParaRPr kumimoji="1" lang="en-US" altLang="ja-JP" sz="2400" dirty="0"/>
          </a:p>
          <a:p>
            <a:r>
              <a:rPr kumimoji="1" lang="ja-JP" altLang="en-US" sz="2400" dirty="0"/>
              <a:t>連券総会への参加権</a:t>
            </a:r>
            <a:endParaRPr kumimoji="1" lang="en-US" altLang="ja-JP" sz="2400" dirty="0"/>
          </a:p>
          <a:p>
            <a:r>
              <a:rPr lang="ja-JP" altLang="en-US" sz="2400" dirty="0"/>
              <a:t>重要事項に投票（例：アニメの劇場版化）</a:t>
            </a:r>
          </a:p>
          <a:p>
            <a:endParaRPr kumimoji="1" lang="en-US" altLang="ja-JP" sz="2400" dirty="0"/>
          </a:p>
          <a:p>
            <a:endParaRPr kumimoji="1" lang="en-US" altLang="ja-JP" sz="2400" dirty="0"/>
          </a:p>
          <a:p>
            <a:pPr>
              <a:buFont typeface="Arial" panose="020B0604020202020204" pitchFamily="34" charset="0"/>
              <a:buChar char="•"/>
            </a:pPr>
            <a:endParaRPr kumimoji="1" lang="ja-JP" altLang="en-US" dirty="0"/>
          </a:p>
        </p:txBody>
      </p:sp>
    </p:spTree>
    <p:extLst>
      <p:ext uri="{BB962C8B-B14F-4D97-AF65-F5344CB8AC3E}">
        <p14:creationId xmlns:p14="http://schemas.microsoft.com/office/powerpoint/2010/main" val="847920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従来方式との違い</a:t>
            </a:r>
          </a:p>
        </p:txBody>
      </p:sp>
      <p:sp>
        <p:nvSpPr>
          <p:cNvPr id="3" name="Content Placeholder 2"/>
          <p:cNvSpPr>
            <a:spLocks noGrp="1"/>
          </p:cNvSpPr>
          <p:nvPr>
            <p:ph idx="1"/>
          </p:nvPr>
        </p:nvSpPr>
        <p:spPr/>
        <p:txBody>
          <a:bodyPr/>
          <a:lstStyle/>
          <a:p>
            <a:r>
              <a:rPr dirty="0" err="1"/>
              <a:t>従来：出版社全体の株を買う</a:t>
            </a:r>
            <a:endParaRPr lang="ja-JP" altLang="en-US" dirty="0"/>
          </a:p>
          <a:p>
            <a:r>
              <a:rPr dirty="0" err="1"/>
              <a:t>連権</a:t>
            </a:r>
            <a:r>
              <a:rPr dirty="0"/>
              <a:t>：</a:t>
            </a:r>
            <a:r>
              <a:rPr lang="en-US" dirty="0"/>
              <a:t>"</a:t>
            </a:r>
            <a:r>
              <a:rPr lang="ja-JP" altLang="en-US" dirty="0"/>
              <a:t>特定の</a:t>
            </a:r>
            <a:r>
              <a:rPr dirty="0" err="1"/>
              <a:t>プロジェクト</a:t>
            </a:r>
            <a:r>
              <a:rPr lang="en-US" dirty="0" err="1"/>
              <a:t>"</a:t>
            </a:r>
            <a:r>
              <a:rPr dirty="0" err="1"/>
              <a:t>だけに投資</a:t>
            </a:r>
            <a:endParaRPr dirty="0"/>
          </a:p>
          <a:p>
            <a:pPr marL="0" indent="0">
              <a:buNone/>
            </a:pPr>
            <a:r>
              <a:rPr lang="ja-JP" altLang="en-US" dirty="0"/>
              <a:t>→ 会社の他事業リスクと分離</a:t>
            </a:r>
            <a:r>
              <a:rPr lang="en-US" altLang="ja-JP" dirty="0"/>
              <a:t>(</a:t>
            </a:r>
            <a:r>
              <a:rPr lang="ja-JP" altLang="en-US" dirty="0"/>
              <a:t>自分の得意分野だけを狙って投資しやすい</a:t>
            </a:r>
            <a:r>
              <a:rPr lang="en-US" altLang="ja-JP" dirty="0"/>
              <a:t>)</a:t>
            </a:r>
            <a:endParaRPr lang="en-US" dirty="0"/>
          </a:p>
          <a:p>
            <a:endParaRPr lang="en-US" altLang="ja-JP" dirty="0"/>
          </a:p>
          <a:p>
            <a:r>
              <a:rPr lang="ja-JP" altLang="en-US" dirty="0"/>
              <a:t>特定のプロジェクトにクラウドファンディング感覚で応援できる</a:t>
            </a:r>
            <a:r>
              <a:rPr lang="en-US" altLang="ja-JP" dirty="0"/>
              <a:t>(</a:t>
            </a:r>
            <a:r>
              <a:rPr lang="ja-JP" altLang="en-US" dirty="0"/>
              <a:t>従来と異なり誰にどのようなメリットがあるのか分かりやすい</a:t>
            </a:r>
            <a:r>
              <a:rPr lang="en-US" altLang="ja-JP"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課題：単体プロジェクトの不安定さ</a:t>
            </a:r>
          </a:p>
        </p:txBody>
      </p:sp>
      <p:sp>
        <p:nvSpPr>
          <p:cNvPr id="3" name="Content Placeholder 2"/>
          <p:cNvSpPr>
            <a:spLocks noGrp="1"/>
          </p:cNvSpPr>
          <p:nvPr>
            <p:ph idx="1"/>
          </p:nvPr>
        </p:nvSpPr>
        <p:spPr/>
        <p:txBody>
          <a:bodyPr/>
          <a:lstStyle/>
          <a:p>
            <a:r>
              <a:rPr dirty="0" err="1"/>
              <a:t>ヒット／不発の差が大きい</a:t>
            </a:r>
            <a:endParaRPr dirty="0"/>
          </a:p>
          <a:p>
            <a:pPr marL="0" indent="0">
              <a:buNone/>
            </a:pPr>
            <a:r>
              <a:rPr lang="ja-JP" altLang="en-US" dirty="0"/>
              <a:t>→</a:t>
            </a:r>
            <a:r>
              <a:rPr dirty="0" err="1"/>
              <a:t>金融商品としては不安定</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解決策：集合連権</a:t>
            </a:r>
            <a:endParaRPr dirty="0"/>
          </a:p>
        </p:txBody>
      </p:sp>
      <p:sp>
        <p:nvSpPr>
          <p:cNvPr id="3" name="Content Placeholder 2"/>
          <p:cNvSpPr>
            <a:spLocks noGrp="1"/>
          </p:cNvSpPr>
          <p:nvPr>
            <p:ph idx="1"/>
          </p:nvPr>
        </p:nvSpPr>
        <p:spPr/>
        <p:txBody>
          <a:bodyPr/>
          <a:lstStyle/>
          <a:p>
            <a:pPr marL="0" indent="0" algn="ctr">
              <a:buNone/>
            </a:pPr>
            <a:r>
              <a:rPr dirty="0" err="1">
                <a:solidFill>
                  <a:srgbClr val="FF0000"/>
                </a:solidFill>
              </a:rPr>
              <a:t>複数の連権を束ねて分散投資</a:t>
            </a:r>
            <a:endParaRPr dirty="0">
              <a:solidFill>
                <a:srgbClr val="FF0000"/>
              </a:solidFill>
            </a:endParaRPr>
          </a:p>
          <a:p>
            <a:pPr marL="0" indent="0">
              <a:buNone/>
            </a:pPr>
            <a:r>
              <a:rPr dirty="0"/>
              <a:t>例：</a:t>
            </a:r>
          </a:p>
          <a:p>
            <a:r>
              <a:rPr dirty="0" err="1"/>
              <a:t>A社アニメ</a:t>
            </a:r>
            <a:endParaRPr dirty="0"/>
          </a:p>
          <a:p>
            <a:r>
              <a:rPr dirty="0" err="1"/>
              <a:t>B社アニメ</a:t>
            </a:r>
            <a:endParaRPr dirty="0"/>
          </a:p>
          <a:p>
            <a:r>
              <a:rPr dirty="0" err="1"/>
              <a:t>C社アニメ</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証券会社の役割</a:t>
            </a:r>
          </a:p>
        </p:txBody>
      </p:sp>
      <p:sp>
        <p:nvSpPr>
          <p:cNvPr id="3" name="Content Placeholder 2"/>
          <p:cNvSpPr>
            <a:spLocks noGrp="1"/>
          </p:cNvSpPr>
          <p:nvPr>
            <p:ph idx="1"/>
          </p:nvPr>
        </p:nvSpPr>
        <p:spPr/>
        <p:txBody>
          <a:bodyPr/>
          <a:lstStyle/>
          <a:p>
            <a:r>
              <a:rPr dirty="0" err="1"/>
              <a:t>連権の組成・審査</a:t>
            </a:r>
            <a:endParaRPr dirty="0"/>
          </a:p>
          <a:p>
            <a:r>
              <a:rPr dirty="0" err="1"/>
              <a:t>集合連権として商品化</a:t>
            </a:r>
            <a:r>
              <a:rPr lang="ja-JP" altLang="en-US" dirty="0"/>
              <a:t>・運用</a:t>
            </a:r>
            <a:endParaRPr dirty="0"/>
          </a:p>
          <a:p>
            <a:r>
              <a:rPr dirty="0" err="1"/>
              <a:t>販売・流通・管理</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DFF94D-1C7C-D97C-01CC-7438E973CB0C}"/>
              </a:ext>
            </a:extLst>
          </p:cNvPr>
          <p:cNvSpPr>
            <a:spLocks noGrp="1"/>
          </p:cNvSpPr>
          <p:nvPr>
            <p:ph type="title"/>
          </p:nvPr>
        </p:nvSpPr>
        <p:spPr/>
        <p:txBody>
          <a:bodyPr/>
          <a:lstStyle/>
          <a:p>
            <a:r>
              <a:rPr kumimoji="1" lang="ja-JP" altLang="en-US" dirty="0"/>
              <a:t>それぞれのメリットデメリット</a:t>
            </a:r>
          </a:p>
        </p:txBody>
      </p:sp>
      <p:graphicFrame>
        <p:nvGraphicFramePr>
          <p:cNvPr id="4" name="表 3">
            <a:extLst>
              <a:ext uri="{FF2B5EF4-FFF2-40B4-BE49-F238E27FC236}">
                <a16:creationId xmlns:a16="http://schemas.microsoft.com/office/drawing/2014/main" id="{310DCC35-8DC0-9349-AE1A-8391ECCCE7E7}"/>
              </a:ext>
            </a:extLst>
          </p:cNvPr>
          <p:cNvGraphicFramePr>
            <a:graphicFrameLocks noGrp="1"/>
          </p:cNvGraphicFramePr>
          <p:nvPr>
            <p:extLst>
              <p:ext uri="{D42A27DB-BD31-4B8C-83A1-F6EECF244321}">
                <p14:modId xmlns:p14="http://schemas.microsoft.com/office/powerpoint/2010/main" val="2209443893"/>
              </p:ext>
            </p:extLst>
          </p:nvPr>
        </p:nvGraphicFramePr>
        <p:xfrm>
          <a:off x="615045" y="1266371"/>
          <a:ext cx="7913910" cy="5486400"/>
        </p:xfrm>
        <a:graphic>
          <a:graphicData uri="http://schemas.openxmlformats.org/drawingml/2006/table">
            <a:tbl>
              <a:tblPr firstRow="1" bandRow="1">
                <a:tableStyleId>{5C22544A-7EE6-4342-B048-85BDC9FD1C3A}</a:tableStyleId>
              </a:tblPr>
              <a:tblGrid>
                <a:gridCol w="1318985">
                  <a:extLst>
                    <a:ext uri="{9D8B030D-6E8A-4147-A177-3AD203B41FA5}">
                      <a16:colId xmlns:a16="http://schemas.microsoft.com/office/drawing/2014/main" val="1413553706"/>
                    </a:ext>
                  </a:extLst>
                </a:gridCol>
                <a:gridCol w="1318985">
                  <a:extLst>
                    <a:ext uri="{9D8B030D-6E8A-4147-A177-3AD203B41FA5}">
                      <a16:colId xmlns:a16="http://schemas.microsoft.com/office/drawing/2014/main" val="3005820797"/>
                    </a:ext>
                  </a:extLst>
                </a:gridCol>
                <a:gridCol w="1318985">
                  <a:extLst>
                    <a:ext uri="{9D8B030D-6E8A-4147-A177-3AD203B41FA5}">
                      <a16:colId xmlns:a16="http://schemas.microsoft.com/office/drawing/2014/main" val="2466343437"/>
                    </a:ext>
                  </a:extLst>
                </a:gridCol>
                <a:gridCol w="1318985">
                  <a:extLst>
                    <a:ext uri="{9D8B030D-6E8A-4147-A177-3AD203B41FA5}">
                      <a16:colId xmlns:a16="http://schemas.microsoft.com/office/drawing/2014/main" val="628984803"/>
                    </a:ext>
                  </a:extLst>
                </a:gridCol>
                <a:gridCol w="1318985">
                  <a:extLst>
                    <a:ext uri="{9D8B030D-6E8A-4147-A177-3AD203B41FA5}">
                      <a16:colId xmlns:a16="http://schemas.microsoft.com/office/drawing/2014/main" val="3631996652"/>
                    </a:ext>
                  </a:extLst>
                </a:gridCol>
                <a:gridCol w="1318985">
                  <a:extLst>
                    <a:ext uri="{9D8B030D-6E8A-4147-A177-3AD203B41FA5}">
                      <a16:colId xmlns:a16="http://schemas.microsoft.com/office/drawing/2014/main" val="2326590768"/>
                    </a:ext>
                  </a:extLst>
                </a:gridCol>
              </a:tblGrid>
              <a:tr h="297734">
                <a:tc gridSpan="2">
                  <a:txBody>
                    <a:bodyPr/>
                    <a:lstStyle/>
                    <a:p>
                      <a:r>
                        <a:rPr kumimoji="1" lang="ja-JP" altLang="en-US" dirty="0"/>
                        <a:t>プロジェクト会社</a:t>
                      </a:r>
                    </a:p>
                  </a:txBody>
                  <a:tcPr/>
                </a:tc>
                <a:tc hMerge="1">
                  <a:txBody>
                    <a:bodyPr/>
                    <a:lstStyle/>
                    <a:p>
                      <a:endParaRPr kumimoji="1" lang="ja-JP" altLang="en-US" dirty="0"/>
                    </a:p>
                  </a:txBody>
                  <a:tcPr/>
                </a:tc>
                <a:tc gridSpan="2">
                  <a:txBody>
                    <a:bodyPr/>
                    <a:lstStyle/>
                    <a:p>
                      <a:r>
                        <a:rPr kumimoji="1" lang="ja-JP" altLang="en-US" dirty="0"/>
                        <a:t>証券会社</a:t>
                      </a:r>
                    </a:p>
                  </a:txBody>
                  <a:tcPr/>
                </a:tc>
                <a:tc hMerge="1">
                  <a:txBody>
                    <a:bodyPr/>
                    <a:lstStyle/>
                    <a:p>
                      <a:endParaRPr kumimoji="1" lang="ja-JP" altLang="en-US" dirty="0"/>
                    </a:p>
                  </a:txBody>
                  <a:tcPr/>
                </a:tc>
                <a:tc gridSpan="2">
                  <a:txBody>
                    <a:bodyPr/>
                    <a:lstStyle/>
                    <a:p>
                      <a:r>
                        <a:rPr kumimoji="1" lang="ja-JP" altLang="en-US" dirty="0"/>
                        <a:t>連券保持者</a:t>
                      </a:r>
                    </a:p>
                  </a:txBody>
                  <a:tcPr/>
                </a:tc>
                <a:tc hMerge="1">
                  <a:txBody>
                    <a:bodyPr/>
                    <a:lstStyle/>
                    <a:p>
                      <a:endParaRPr kumimoji="1" lang="ja-JP" altLang="en-US" dirty="0"/>
                    </a:p>
                  </a:txBody>
                  <a:tcPr/>
                </a:tc>
                <a:extLst>
                  <a:ext uri="{0D108BD9-81ED-4DB2-BD59-A6C34878D82A}">
                    <a16:rowId xmlns:a16="http://schemas.microsoft.com/office/drawing/2014/main" val="570780280"/>
                  </a:ext>
                </a:extLst>
              </a:tr>
              <a:tr h="629298">
                <a:tc>
                  <a:txBody>
                    <a:bodyPr/>
                    <a:lstStyle/>
                    <a:p>
                      <a:r>
                        <a:rPr kumimoji="1" lang="ja-JP" altLang="en-US" dirty="0"/>
                        <a:t>メリット</a:t>
                      </a:r>
                    </a:p>
                  </a:txBody>
                  <a:tcPr>
                    <a:solidFill>
                      <a:schemeClr val="accent1">
                        <a:lumMod val="60000"/>
                        <a:lumOff val="40000"/>
                      </a:schemeClr>
                    </a:solidFill>
                  </a:tcPr>
                </a:tc>
                <a:tc>
                  <a:txBody>
                    <a:bodyPr/>
                    <a:lstStyle/>
                    <a:p>
                      <a:r>
                        <a:rPr kumimoji="1" lang="ja-JP" altLang="en-US" dirty="0"/>
                        <a:t>デメリット・リスク</a:t>
                      </a:r>
                    </a:p>
                  </a:txBody>
                  <a:tcPr>
                    <a:solidFill>
                      <a:schemeClr val="accent1">
                        <a:lumMod val="60000"/>
                        <a:lumOff val="40000"/>
                      </a:schemeClr>
                    </a:solidFill>
                  </a:tcPr>
                </a:tc>
                <a:tc>
                  <a:txBody>
                    <a:bodyPr/>
                    <a:lstStyle/>
                    <a:p>
                      <a:r>
                        <a:rPr kumimoji="1" lang="ja-JP" altLang="en-US" dirty="0"/>
                        <a:t>メリット</a:t>
                      </a:r>
                    </a:p>
                  </a:txBody>
                  <a:tcPr>
                    <a:solidFill>
                      <a:schemeClr val="accent1">
                        <a:lumMod val="60000"/>
                        <a:lumOff val="40000"/>
                      </a:schemeClr>
                    </a:solidFill>
                  </a:tcPr>
                </a:tc>
                <a:tc>
                  <a:txBody>
                    <a:bodyPr/>
                    <a:lstStyle/>
                    <a:p>
                      <a:r>
                        <a:rPr kumimoji="1" lang="ja-JP" altLang="en-US" dirty="0"/>
                        <a:t>デメリット・リスク</a:t>
                      </a:r>
                    </a:p>
                  </a:txBody>
                  <a:tcPr>
                    <a:solidFill>
                      <a:schemeClr val="accent1">
                        <a:lumMod val="60000"/>
                        <a:lumOff val="40000"/>
                      </a:schemeClr>
                    </a:solidFill>
                  </a:tcPr>
                </a:tc>
                <a:tc>
                  <a:txBody>
                    <a:bodyPr/>
                    <a:lstStyle/>
                    <a:p>
                      <a:r>
                        <a:rPr kumimoji="1" lang="ja-JP" altLang="en-US" dirty="0"/>
                        <a:t>メリット</a:t>
                      </a:r>
                    </a:p>
                  </a:txBody>
                  <a:tcPr>
                    <a:solidFill>
                      <a:schemeClr val="accent1">
                        <a:lumMod val="60000"/>
                        <a:lumOff val="40000"/>
                      </a:schemeClr>
                    </a:solidFill>
                  </a:tcPr>
                </a:tc>
                <a:tc>
                  <a:txBody>
                    <a:bodyPr/>
                    <a:lstStyle/>
                    <a:p>
                      <a:r>
                        <a:rPr kumimoji="1" lang="ja-JP" altLang="en-US" dirty="0"/>
                        <a:t>デメリット・リスク</a:t>
                      </a:r>
                    </a:p>
                  </a:txBody>
                  <a:tcPr>
                    <a:solidFill>
                      <a:schemeClr val="accent1">
                        <a:lumMod val="60000"/>
                        <a:lumOff val="40000"/>
                      </a:schemeClr>
                    </a:solidFill>
                  </a:tcPr>
                </a:tc>
                <a:extLst>
                  <a:ext uri="{0D108BD9-81ED-4DB2-BD59-A6C34878D82A}">
                    <a16:rowId xmlns:a16="http://schemas.microsoft.com/office/drawing/2014/main" val="2129497740"/>
                  </a:ext>
                </a:extLst>
              </a:tr>
              <a:tr h="141486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そのプロジェクトがダメだった時に被害が少ない</a:t>
                      </a:r>
                    </a:p>
                  </a:txBody>
                  <a:tcPr/>
                </a:tc>
                <a:tc>
                  <a:txBody>
                    <a:bodyPr/>
                    <a:lstStyle/>
                    <a:p>
                      <a:r>
                        <a:rPr kumimoji="1" lang="ja-JP" altLang="en-US" dirty="0"/>
                        <a:t>調達金額より多い連券が発行されるので配当が多くなる</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セカンダリー市場の売買手数料</a:t>
                      </a:r>
                    </a:p>
                    <a:p>
                      <a:endParaRPr kumimoji="1" lang="ja-JP" altLang="en-US" dirty="0"/>
                    </a:p>
                  </a:txBody>
                  <a:tcPr/>
                </a:tc>
                <a:tc>
                  <a:txBody>
                    <a:bodyPr/>
                    <a:lstStyle/>
                    <a:p>
                      <a:r>
                        <a:rPr kumimoji="1" lang="ja-JP" altLang="en-US" dirty="0"/>
                        <a:t>販売しきれなかった時に保持義務を負う</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事業が他社に移ってもそのままついていける</a:t>
                      </a:r>
                    </a:p>
                  </a:txBody>
                  <a:tcPr/>
                </a:tc>
                <a:tc>
                  <a:txBody>
                    <a:bodyPr/>
                    <a:lstStyle/>
                    <a:p>
                      <a:r>
                        <a:rPr kumimoji="1" lang="ja-JP" altLang="en-US" dirty="0"/>
                        <a:t>株式同様配当が減ったりなくなったりする</a:t>
                      </a:r>
                    </a:p>
                  </a:txBody>
                  <a:tcPr/>
                </a:tc>
                <a:extLst>
                  <a:ext uri="{0D108BD9-81ED-4DB2-BD59-A6C34878D82A}">
                    <a16:rowId xmlns:a16="http://schemas.microsoft.com/office/drawing/2014/main" val="1652723794"/>
                  </a:ext>
                </a:extLst>
              </a:tr>
              <a:tr h="88429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資金調達がしやすい</a:t>
                      </a:r>
                    </a:p>
                    <a:p>
                      <a:endParaRPr kumimoji="1" lang="ja-JP" alt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事業単位で説明会を開くので大変</a:t>
                      </a:r>
                    </a:p>
                  </a:txBody>
                  <a:tcPr/>
                </a:tc>
                <a:tc>
                  <a:txBody>
                    <a:bodyPr/>
                    <a:lstStyle/>
                    <a:p>
                      <a:r>
                        <a:rPr kumimoji="1" lang="ja-JP" altLang="en-US" dirty="0"/>
                        <a:t>従来より販売しやすい</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商品説明が少し大変</a:t>
                      </a:r>
                    </a:p>
                    <a:p>
                      <a:endParaRPr kumimoji="1" lang="ja-JP" altLang="en-US" dirty="0"/>
                    </a:p>
                  </a:txBody>
                  <a:tcPr/>
                </a:tc>
                <a:tc>
                  <a:txBody>
                    <a:bodyPr/>
                    <a:lstStyle/>
                    <a:p>
                      <a:r>
                        <a:rPr kumimoji="1" lang="ja-JP" altLang="en-US" dirty="0"/>
                        <a:t>プロジェクトの応援がしやすい</a:t>
                      </a:r>
                    </a:p>
                  </a:txBody>
                  <a:tcPr/>
                </a:tc>
                <a:tc>
                  <a:txBody>
                    <a:bodyPr/>
                    <a:lstStyle/>
                    <a:p>
                      <a:endParaRPr kumimoji="1" lang="ja-JP" altLang="en-US" dirty="0"/>
                    </a:p>
                  </a:txBody>
                  <a:tcPr/>
                </a:tc>
                <a:extLst>
                  <a:ext uri="{0D108BD9-81ED-4DB2-BD59-A6C34878D82A}">
                    <a16:rowId xmlns:a16="http://schemas.microsoft.com/office/drawing/2014/main" val="3288747498"/>
                  </a:ext>
                </a:extLst>
              </a:tr>
              <a:tr h="1149580">
                <a:tc>
                  <a:txBody>
                    <a:bodyPr/>
                    <a:lstStyle/>
                    <a:p>
                      <a:endParaRPr kumimoji="1" lang="ja-JP" alt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保持割合が少ないと主導権を取られるかも</a:t>
                      </a:r>
                    </a:p>
                  </a:txBody>
                  <a:tcPr/>
                </a:tc>
                <a:tc>
                  <a:txBody>
                    <a:bodyPr/>
                    <a:lstStyle/>
                    <a:p>
                      <a:r>
                        <a:rPr kumimoji="1" lang="ja-JP" altLang="en-US" dirty="0"/>
                        <a:t>新たな顧客層</a:t>
                      </a:r>
                      <a:r>
                        <a:rPr kumimoji="1" lang="ja-JP" altLang="en-US"/>
                        <a:t>に対する口座</a:t>
                      </a:r>
                      <a:r>
                        <a:rPr kumimoji="1" lang="ja-JP" altLang="en-US" dirty="0"/>
                        <a:t>開設</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法的位置づけが難しく規制が入る可能性あり</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得意分野に限定した投資ができる</a:t>
                      </a:r>
                    </a:p>
                  </a:txBody>
                  <a:tcPr/>
                </a:tc>
                <a:tc>
                  <a:txBody>
                    <a:bodyPr/>
                    <a:lstStyle/>
                    <a:p>
                      <a:endParaRPr kumimoji="1" lang="ja-JP" altLang="en-US" dirty="0"/>
                    </a:p>
                  </a:txBody>
                  <a:tcPr/>
                </a:tc>
                <a:extLst>
                  <a:ext uri="{0D108BD9-81ED-4DB2-BD59-A6C34878D82A}">
                    <a16:rowId xmlns:a16="http://schemas.microsoft.com/office/drawing/2014/main" val="29032686"/>
                  </a:ext>
                </a:extLst>
              </a:tr>
              <a:tr h="884292">
                <a:tc>
                  <a:txBody>
                    <a:bodyPr/>
                    <a:lstStyle/>
                    <a:p>
                      <a:endParaRPr kumimoji="1" lang="ja-JP" altLang="en-US" dirty="0"/>
                    </a:p>
                  </a:txBody>
                  <a:tcPr/>
                </a:tc>
                <a:tc>
                  <a:txBody>
                    <a:bodyPr/>
                    <a:lstStyle/>
                    <a:p>
                      <a:r>
                        <a:rPr kumimoji="1" lang="ja-JP" altLang="en-US" dirty="0"/>
                        <a:t>最終買取価格を保証する義務</a:t>
                      </a:r>
                    </a:p>
                  </a:txBody>
                  <a:tcPr/>
                </a:tc>
                <a:tc>
                  <a:txBody>
                    <a:bodyPr/>
                    <a:lstStyle/>
                    <a:p>
                      <a:r>
                        <a:rPr kumimoji="1" lang="ja-JP" altLang="en-US" dirty="0"/>
                        <a:t>連券発行手数料収入</a:t>
                      </a:r>
                    </a:p>
                  </a:txBody>
                  <a:tcPr/>
                </a:tc>
                <a:tc>
                  <a:txBody>
                    <a:bodyPr/>
                    <a:lstStyle/>
                    <a:p>
                      <a:endParaRPr kumimoji="1" lang="ja-JP" alt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dirty="0"/>
                        <a:t>最終買取価格が保証される</a:t>
                      </a:r>
                    </a:p>
                  </a:txBody>
                  <a:tcPr/>
                </a:tc>
                <a:tc>
                  <a:txBody>
                    <a:bodyPr/>
                    <a:lstStyle/>
                    <a:p>
                      <a:endParaRPr kumimoji="1" lang="ja-JP" altLang="en-US" dirty="0"/>
                    </a:p>
                  </a:txBody>
                  <a:tcPr/>
                </a:tc>
                <a:extLst>
                  <a:ext uri="{0D108BD9-81ED-4DB2-BD59-A6C34878D82A}">
                    <a16:rowId xmlns:a16="http://schemas.microsoft.com/office/drawing/2014/main" val="2683079159"/>
                  </a:ext>
                </a:extLst>
              </a:tr>
            </a:tbl>
          </a:graphicData>
        </a:graphic>
      </p:graphicFrame>
    </p:spTree>
    <p:extLst>
      <p:ext uri="{BB962C8B-B14F-4D97-AF65-F5344CB8AC3E}">
        <p14:creationId xmlns:p14="http://schemas.microsoft.com/office/powerpoint/2010/main" val="3389353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将来ビジョン</a:t>
            </a:r>
          </a:p>
        </p:txBody>
      </p:sp>
      <p:sp>
        <p:nvSpPr>
          <p:cNvPr id="3" name="Content Placeholder 2"/>
          <p:cNvSpPr>
            <a:spLocks noGrp="1"/>
          </p:cNvSpPr>
          <p:nvPr>
            <p:ph idx="1"/>
          </p:nvPr>
        </p:nvSpPr>
        <p:spPr/>
        <p:txBody>
          <a:bodyPr/>
          <a:lstStyle/>
          <a:p>
            <a:r>
              <a:rPr dirty="0" err="1"/>
              <a:t>連権を最小単位とする市場</a:t>
            </a:r>
            <a:endParaRPr dirty="0"/>
          </a:p>
          <a:p>
            <a:r>
              <a:rPr dirty="0" err="1"/>
              <a:t>株式＝企業全体を束ねた集合連権</a:t>
            </a:r>
            <a:endParaRPr dirty="0"/>
          </a:p>
          <a:p>
            <a:r>
              <a:rPr dirty="0" err="1"/>
              <a:t>新しい資本市場の創出</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432</TotalTime>
  <Words>1109</Words>
  <Application>Microsoft Office PowerPoint</Application>
  <PresentationFormat>画面に合わせる (4:3)</PresentationFormat>
  <Paragraphs>171</Paragraphs>
  <Slides>17</Slides>
  <Notes>11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17</vt:i4>
      </vt:variant>
    </vt:vector>
  </HeadingPairs>
  <TitlesOfParts>
    <vt:vector size="21" baseType="lpstr">
      <vt:lpstr>游ゴシック</vt:lpstr>
      <vt:lpstr>Arial</vt:lpstr>
      <vt:lpstr>Calibri</vt:lpstr>
      <vt:lpstr>Office Theme</vt:lpstr>
      <vt:lpstr>連権・集合連権 投資商品提案</vt:lpstr>
      <vt:lpstr>従来の株式投資の課題</vt:lpstr>
      <vt:lpstr>新しい考え方：連権</vt:lpstr>
      <vt:lpstr>マンガアニメ化の例</vt:lpstr>
      <vt:lpstr>連券発行時</vt:lpstr>
      <vt:lpstr>連券発行時</vt:lpstr>
      <vt:lpstr>プロジェクト終了時</vt:lpstr>
      <vt:lpstr>PowerPoint プレゼンテーション</vt:lpstr>
      <vt:lpstr>連券の構成図の例</vt:lpstr>
      <vt:lpstr>連券の構成図の例</vt:lpstr>
      <vt:lpstr>基本的には株と同じ</vt:lpstr>
      <vt:lpstr>従来方式との違い</vt:lpstr>
      <vt:lpstr>課題：単体プロジェクトの不安定さ</vt:lpstr>
      <vt:lpstr>解決策：集合連権</vt:lpstr>
      <vt:lpstr>証券会社の役割</vt:lpstr>
      <vt:lpstr>それぞれのメリットデメリット</vt:lpstr>
      <vt:lpstr>将来ビジョン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catapult typeR</cp:lastModifiedBy>
  <cp:revision>7</cp:revision>
  <dcterms:created xsi:type="dcterms:W3CDTF">2013-01-27T09:14:16Z</dcterms:created>
  <dcterms:modified xsi:type="dcterms:W3CDTF">2026-01-31T14:26:56Z</dcterms:modified>
  <cp:category/>
</cp:coreProperties>
</file>